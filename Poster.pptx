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438912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25" d="100"/>
          <a:sy n="25" d="100"/>
        </p:scale>
        <p:origin x="129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76A7-A103-4600-9111-6BB9AD7DC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73A6E-EE7A-4B9C-877E-BDFCBCFEE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64F8C-5614-4FDE-9A44-B49BE31D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1C110-2C0B-4262-AE6C-58CD5775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55819-A818-47F7-9BD0-F105D270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050F-0D80-44A6-ACCB-57D9E84E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20BE-AA82-4F16-98C3-207CC64A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816BB-287C-4FB3-87B9-DBB62588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9E518-101C-4120-BCD8-8103D46B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4AD9-F5F4-420F-A968-69D7C913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7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907F-4614-480D-8AFB-B5F70374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66CE2-5A9F-4BD4-9347-6A544665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4066-996B-4EBC-91A4-39CAB02E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D98E8-A97A-4A91-A186-E898C278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3AAF-8606-4882-98A2-443FE8719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8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C970-7469-4372-854A-520A856E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EBAC-FE4D-4628-9646-DBBD9515E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68B3C-F8FC-4D1A-A299-6CA7906FF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2F5D-F1F3-4917-A27B-E6F15F2C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39D0-94C7-413D-A628-2CD8D820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04CFD-A8EA-4366-A6C1-10181F59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6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EB0E-F24A-4B68-B5FC-BA87C2AC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F3DE6-F5F3-4652-AE58-3FC590B84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5AFE4-5CF0-457C-BECD-5E15DE111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CE780-382D-4AC4-95C9-5D783F646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1012F-7649-4928-94F8-450A21E92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0A727-F86B-48F1-8715-C1440CF6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02D69-0D30-4479-8FC7-CE4F807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894E8-2AEB-4706-991B-3DBB5D30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7561-E30A-4E64-BBFB-C5FC9600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438B4-EF49-404F-9837-A9CB6FC7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4B149-729E-4DD4-B6B9-C840FDAF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8A292-C062-4F79-BC20-EBD4D23D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C76D6-ADCF-4152-8671-E1655981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92BD9-9022-4B89-87DC-0BF808EF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389D7-71CD-435E-A4D9-629B3499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6B5E-10CB-490B-8563-A3FCA641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F4C4A-8057-4F2A-8017-FE2B451E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0B2EE-6243-4DE0-ABF1-8575D7336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E44F5-D38D-4934-9A53-61D61D8C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430D-EC09-405F-8C51-BF752FBF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E586C-2564-45D8-A00A-CE12D904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2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09D0-C533-4E23-8B61-C16BE5F6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97992-6A77-4538-AC6E-05129BCA7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8F0D2-1259-46E5-9F6D-8CF2ABB8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1AB78-59B1-46D6-8712-3D0F2ED0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FEC30-E2DC-4CD7-9AF8-24C4E3E5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49AE2-573A-4B63-BE9B-676BDC16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77D4-620C-4EC7-B708-58912047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42CF5-9453-4FF3-AC8F-C0BA39EC9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E4BA5-4E22-47EE-A31A-75A13F9E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772F-7A70-4864-BBAB-9EF0B9D0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4A64-71F2-4AF1-92DD-1AC2ABB4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2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FE824-E80A-46A9-8690-A435D877D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DFF03-91A1-4658-82A8-B32AF9353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D3087-3D94-44E9-AA73-2A9B4068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E21F0-7EF4-454A-95E8-38044878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125C-01E4-4961-B2F5-69F1DE41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1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40FD1-F484-4DBA-A78F-652BE452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87EC-E7EC-4418-BCBB-71510C69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FF37-8A23-4108-BB18-231BEF8E9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B84BE-8907-4088-A091-8BB02B06D018}" type="datetimeFigureOut">
              <a:rPr lang="en-US" smtClean="0"/>
              <a:t>11/29/2019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70183-08DF-43B8-A711-5CE8B5FF2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92D2-3A70-430C-A58A-92D347909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A4F4C1-B55B-4999-8699-9261033D93FF}"/>
              </a:ext>
            </a:extLst>
          </p:cNvPr>
          <p:cNvSpPr/>
          <p:nvPr/>
        </p:nvSpPr>
        <p:spPr>
          <a:xfrm>
            <a:off x="16586323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0ABAD-537B-4131-990E-2A8C678AB2C6}"/>
              </a:ext>
            </a:extLst>
          </p:cNvPr>
          <p:cNvSpPr/>
          <p:nvPr/>
        </p:nvSpPr>
        <p:spPr>
          <a:xfrm>
            <a:off x="18599607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15740-537B-4BC9-9172-4B7AC042C54A}"/>
              </a:ext>
            </a:extLst>
          </p:cNvPr>
          <p:cNvSpPr/>
          <p:nvPr/>
        </p:nvSpPr>
        <p:spPr>
          <a:xfrm>
            <a:off x="20612891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197E3-39A1-4B74-A541-40B0A4AD0A13}"/>
              </a:ext>
            </a:extLst>
          </p:cNvPr>
          <p:cNvSpPr/>
          <p:nvPr/>
        </p:nvSpPr>
        <p:spPr>
          <a:xfrm>
            <a:off x="22618153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9CE57F-9CFA-4649-91A0-3F4EBE431524}"/>
              </a:ext>
            </a:extLst>
          </p:cNvPr>
          <p:cNvSpPr/>
          <p:nvPr/>
        </p:nvSpPr>
        <p:spPr>
          <a:xfrm>
            <a:off x="24617581" y="13781586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6883D3-3D5B-4B55-98D0-69FB53DE742C}"/>
              </a:ext>
            </a:extLst>
          </p:cNvPr>
          <p:cNvSpPr/>
          <p:nvPr/>
        </p:nvSpPr>
        <p:spPr>
          <a:xfrm>
            <a:off x="26617009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14C0C-0C43-4678-9795-49820EBCC887}"/>
              </a:ext>
            </a:extLst>
          </p:cNvPr>
          <p:cNvSpPr txBox="1"/>
          <p:nvPr/>
        </p:nvSpPr>
        <p:spPr>
          <a:xfrm>
            <a:off x="16586323" y="13948774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Identification of viral news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FB08A-677A-4EB7-A3F3-5E9B91C5B6D7}"/>
              </a:ext>
            </a:extLst>
          </p:cNvPr>
          <p:cNvSpPr txBox="1"/>
          <p:nvPr/>
        </p:nvSpPr>
        <p:spPr>
          <a:xfrm>
            <a:off x="18613463" y="13841052"/>
            <a:ext cx="1420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Gathering relevant news stories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67DFBE-096D-4E63-96E5-431E71358642}"/>
              </a:ext>
            </a:extLst>
          </p:cNvPr>
          <p:cNvSpPr txBox="1"/>
          <p:nvPr/>
        </p:nvSpPr>
        <p:spPr>
          <a:xfrm>
            <a:off x="20626747" y="13887218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Web scraping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064C37-EA4F-468C-A2AB-88AF9B18BF44}"/>
              </a:ext>
            </a:extLst>
          </p:cNvPr>
          <p:cNvSpPr txBox="1"/>
          <p:nvPr/>
        </p:nvSpPr>
        <p:spPr>
          <a:xfrm>
            <a:off x="22618153" y="13979551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Pre-processing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0CCD9-52EF-4F8F-9D49-FA98E90BB868}"/>
              </a:ext>
            </a:extLst>
          </p:cNvPr>
          <p:cNvSpPr txBox="1"/>
          <p:nvPr/>
        </p:nvSpPr>
        <p:spPr>
          <a:xfrm>
            <a:off x="24603725" y="14083802"/>
            <a:ext cx="142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C92C0-C28F-42EB-A5B0-B10B39EB43FB}"/>
              </a:ext>
            </a:extLst>
          </p:cNvPr>
          <p:cNvSpPr txBox="1"/>
          <p:nvPr/>
        </p:nvSpPr>
        <p:spPr>
          <a:xfrm>
            <a:off x="26617009" y="14056497"/>
            <a:ext cx="142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E33AAC8-FCF5-4F0E-BF41-0505A288B8B2}"/>
              </a:ext>
            </a:extLst>
          </p:cNvPr>
          <p:cNvSpPr/>
          <p:nvPr/>
        </p:nvSpPr>
        <p:spPr>
          <a:xfrm>
            <a:off x="18007264" y="14042940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2FD088A-370A-4A2B-9FD3-69E2E19D64EE}"/>
              </a:ext>
            </a:extLst>
          </p:cNvPr>
          <p:cNvSpPr/>
          <p:nvPr/>
        </p:nvSpPr>
        <p:spPr>
          <a:xfrm>
            <a:off x="20038538" y="14029385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DB39CA9-E334-4CC9-A54A-4D7916FC92EC}"/>
              </a:ext>
            </a:extLst>
          </p:cNvPr>
          <p:cNvSpPr/>
          <p:nvPr/>
        </p:nvSpPr>
        <p:spPr>
          <a:xfrm>
            <a:off x="22033831" y="14013051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EEAD328-E261-4C1D-8B32-F0F694BCB085}"/>
              </a:ext>
            </a:extLst>
          </p:cNvPr>
          <p:cNvSpPr/>
          <p:nvPr/>
        </p:nvSpPr>
        <p:spPr>
          <a:xfrm>
            <a:off x="26038522" y="14042940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9B18CEBB-E9B8-4DF9-B871-8380491F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811" y="9373620"/>
            <a:ext cx="1464150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0" name="Subtitle 29">
            <a:extLst>
              <a:ext uri="{FF2B5EF4-FFF2-40B4-BE49-F238E27FC236}">
                <a16:creationId xmlns:a16="http://schemas.microsoft.com/office/drawing/2014/main" id="{D60ABE12-2E83-45AC-A103-E37D81BF86E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437518" y="16459200"/>
            <a:ext cx="6535782" cy="281940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dirty="0"/>
              <a:t>Phases:</a:t>
            </a:r>
          </a:p>
          <a:p>
            <a:pPr algn="l"/>
            <a:r>
              <a:rPr lang="en-US" dirty="0"/>
              <a:t>Phase I   : 	Manual Approach</a:t>
            </a:r>
          </a:p>
          <a:p>
            <a:pPr algn="l"/>
            <a:r>
              <a:rPr lang="en-US" dirty="0"/>
              <a:t>Phase II  : 	Semi-automated Approach</a:t>
            </a:r>
          </a:p>
          <a:p>
            <a:pPr algn="l"/>
            <a:r>
              <a:rPr lang="en-US" dirty="0"/>
              <a:t>Phase III :	Fully-automated Approach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2177A9E-FDD1-43AA-972F-D228AE80F3FC}"/>
              </a:ext>
            </a:extLst>
          </p:cNvPr>
          <p:cNvSpPr/>
          <p:nvPr/>
        </p:nvSpPr>
        <p:spPr>
          <a:xfrm>
            <a:off x="14520013" y="17114520"/>
            <a:ext cx="311339" cy="10896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0BC0D1-E2FF-4814-9F77-FD0262336964}"/>
              </a:ext>
            </a:extLst>
          </p:cNvPr>
          <p:cNvSpPr txBox="1"/>
          <p:nvPr/>
        </p:nvSpPr>
        <p:spPr>
          <a:xfrm>
            <a:off x="14831352" y="17535827"/>
            <a:ext cx="136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62963FA1-CA85-4C0A-89E9-404D4902FE70}"/>
              </a:ext>
            </a:extLst>
          </p:cNvPr>
          <p:cNvSpPr/>
          <p:nvPr/>
        </p:nvSpPr>
        <p:spPr>
          <a:xfrm>
            <a:off x="24039094" y="14013051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4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17" hidden="1">
            <a:extLst>
              <a:ext uri="{FF2B5EF4-FFF2-40B4-BE49-F238E27FC236}">
                <a16:creationId xmlns:a16="http://schemas.microsoft.com/office/drawing/2014/main" id="{472AFD39-0243-4DE8-BAB0-26A9FCF0C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9499600"/>
            <a:ext cx="34569400" cy="213344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0" name="Group 126">
            <a:extLst>
              <a:ext uri="{FF2B5EF4-FFF2-40B4-BE49-F238E27FC236}">
                <a16:creationId xmlns:a16="http://schemas.microsoft.com/office/drawing/2014/main" id="{399A0FCB-B8DE-4D40-B752-D30C4C93A610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155575"/>
            <a:ext cx="42976800" cy="2566988"/>
            <a:chOff x="107625832" y="109678470"/>
            <a:chExt cx="5118735" cy="1013460"/>
          </a:xfrm>
        </p:grpSpPr>
        <p:sp>
          <p:nvSpPr>
            <p:cNvPr id="131" name="Rectangle 127" hidden="1">
              <a:extLst>
                <a:ext uri="{FF2B5EF4-FFF2-40B4-BE49-F238E27FC236}">
                  <a16:creationId xmlns:a16="http://schemas.microsoft.com/office/drawing/2014/main" id="{0CF3D184-2333-4B4C-8B90-29CF58E12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25832" y="109678470"/>
              <a:ext cx="5118735" cy="10134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2" name="Group 128">
              <a:extLst>
                <a:ext uri="{FF2B5EF4-FFF2-40B4-BE49-F238E27FC236}">
                  <a16:creationId xmlns:a16="http://schemas.microsoft.com/office/drawing/2014/main" id="{D4965646-B239-4295-BD68-D8FE9907A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625832" y="109678470"/>
              <a:ext cx="5118735" cy="1013460"/>
              <a:chOff x="107625832" y="109678470"/>
              <a:chExt cx="5118735" cy="1013460"/>
            </a:xfrm>
          </p:grpSpPr>
          <p:sp>
            <p:nvSpPr>
              <p:cNvPr id="133" name="Text Box 129">
                <a:extLst>
                  <a:ext uri="{FF2B5EF4-FFF2-40B4-BE49-F238E27FC236}">
                    <a16:creationId xmlns:a16="http://schemas.microsoft.com/office/drawing/2014/main" id="{65479EED-7043-472C-A925-C0B78C0C64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625832" y="110314740"/>
                <a:ext cx="5118735" cy="377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Samuel Teplov				Gaurav Deshpande				Alon Peer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Text Box 130">
                <a:extLst>
                  <a:ext uri="{FF2B5EF4-FFF2-40B4-BE49-F238E27FC236}">
                    <a16:creationId xmlns:a16="http://schemas.microsoft.com/office/drawing/2014/main" id="{819A4E5D-0BEE-4FA9-9BBB-4DB1EA0BF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625832" y="109678470"/>
                <a:ext cx="5118735" cy="636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7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A Systematic Approach to Analyzing Syndication of Viral News Stories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35" name="Group 131">
            <a:extLst>
              <a:ext uri="{FF2B5EF4-FFF2-40B4-BE49-F238E27FC236}">
                <a16:creationId xmlns:a16="http://schemas.microsoft.com/office/drawing/2014/main" id="{087AD1D8-9454-4456-BC5E-01300AAE5FCE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2722563"/>
            <a:ext cx="8472487" cy="6781800"/>
            <a:chOff x="108973620" y="109117180"/>
            <a:chExt cx="2423160" cy="2136039"/>
          </a:xfrm>
        </p:grpSpPr>
        <p:sp>
          <p:nvSpPr>
            <p:cNvPr id="136" name="Rectangle 132" hidden="1">
              <a:extLst>
                <a:ext uri="{FF2B5EF4-FFF2-40B4-BE49-F238E27FC236}">
                  <a16:creationId xmlns:a16="http://schemas.microsoft.com/office/drawing/2014/main" id="{0661074E-8232-4E15-99A9-2F5B17A40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7" name="Group 133">
              <a:extLst>
                <a:ext uri="{FF2B5EF4-FFF2-40B4-BE49-F238E27FC236}">
                  <a16:creationId xmlns:a16="http://schemas.microsoft.com/office/drawing/2014/main" id="{A18A9AAA-2A80-4C3B-97FC-3419EC6FC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38" name="Text Box 134">
                <a:extLst>
                  <a:ext uri="{FF2B5EF4-FFF2-40B4-BE49-F238E27FC236}">
                    <a16:creationId xmlns:a16="http://schemas.microsoft.com/office/drawing/2014/main" id="{2DB47191-C3EC-4C2C-8F60-A1A77D386A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Text Box 135">
                <a:extLst>
                  <a:ext uri="{FF2B5EF4-FFF2-40B4-BE49-F238E27FC236}">
                    <a16:creationId xmlns:a16="http://schemas.microsoft.com/office/drawing/2014/main" id="{C1F16795-C758-49CE-9B95-48CC212D5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Problem Statement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40" name="Group 136">
            <a:extLst>
              <a:ext uri="{FF2B5EF4-FFF2-40B4-BE49-F238E27FC236}">
                <a16:creationId xmlns:a16="http://schemas.microsoft.com/office/drawing/2014/main" id="{4D684B47-3A0D-4E04-B022-843E9C077B6A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9504363"/>
            <a:ext cx="8407400" cy="7340600"/>
            <a:chOff x="108973620" y="109117180"/>
            <a:chExt cx="2423160" cy="2136039"/>
          </a:xfrm>
        </p:grpSpPr>
        <p:sp>
          <p:nvSpPr>
            <p:cNvPr id="141" name="Rectangle 137" hidden="1">
              <a:extLst>
                <a:ext uri="{FF2B5EF4-FFF2-40B4-BE49-F238E27FC236}">
                  <a16:creationId xmlns:a16="http://schemas.microsoft.com/office/drawing/2014/main" id="{8E40B131-8EC3-46E1-8045-E418FB525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2" name="Group 138">
              <a:extLst>
                <a:ext uri="{FF2B5EF4-FFF2-40B4-BE49-F238E27FC236}">
                  <a16:creationId xmlns:a16="http://schemas.microsoft.com/office/drawing/2014/main" id="{8647B381-6782-4131-BCA7-2F66DDE60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43" name="Text Box 139">
                <a:extLst>
                  <a:ext uri="{FF2B5EF4-FFF2-40B4-BE49-F238E27FC236}">
                    <a16:creationId xmlns:a16="http://schemas.microsoft.com/office/drawing/2014/main" id="{A392BBBF-1079-45B2-B98F-8EA8FDC0F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Text Box 140">
                <a:extLst>
                  <a:ext uri="{FF2B5EF4-FFF2-40B4-BE49-F238E27FC236}">
                    <a16:creationId xmlns:a16="http://schemas.microsoft.com/office/drawing/2014/main" id="{A060ECB2-69F8-4CC0-B775-A2E920268F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4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Objective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45" name="Group 141">
            <a:extLst>
              <a:ext uri="{FF2B5EF4-FFF2-40B4-BE49-F238E27FC236}">
                <a16:creationId xmlns:a16="http://schemas.microsoft.com/office/drawing/2014/main" id="{0D627BD7-FACF-4937-B458-1C2E8A47D7A3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17505363"/>
            <a:ext cx="8472487" cy="5892800"/>
            <a:chOff x="108973620" y="109117180"/>
            <a:chExt cx="2423160" cy="2136039"/>
          </a:xfrm>
        </p:grpSpPr>
        <p:sp>
          <p:nvSpPr>
            <p:cNvPr id="146" name="Rectangle 142" hidden="1">
              <a:extLst>
                <a:ext uri="{FF2B5EF4-FFF2-40B4-BE49-F238E27FC236}">
                  <a16:creationId xmlns:a16="http://schemas.microsoft.com/office/drawing/2014/main" id="{9FD7B006-5964-43B5-A350-C2A1EC46C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7" name="Group 143">
              <a:extLst>
                <a:ext uri="{FF2B5EF4-FFF2-40B4-BE49-F238E27FC236}">
                  <a16:creationId xmlns:a16="http://schemas.microsoft.com/office/drawing/2014/main" id="{2EB7EA0A-D517-490D-B6CD-C27B311D1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48" name="Text Box 144">
                <a:extLst>
                  <a:ext uri="{FF2B5EF4-FFF2-40B4-BE49-F238E27FC236}">
                    <a16:creationId xmlns:a16="http://schemas.microsoft.com/office/drawing/2014/main" id="{A3DE12F6-E1A1-4769-B73C-4BC62F1F08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Text Box 145">
                <a:extLst>
                  <a:ext uri="{FF2B5EF4-FFF2-40B4-BE49-F238E27FC236}">
                    <a16:creationId xmlns:a16="http://schemas.microsoft.com/office/drawing/2014/main" id="{0CD4D2FC-8F82-4FF2-8BC6-D908D0B6E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200" b="0" i="0" u="none" strike="noStrike" cap="none" normalizeH="0" baseline="0" dirty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Background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0" name="Group 146">
            <a:extLst>
              <a:ext uri="{FF2B5EF4-FFF2-40B4-BE49-F238E27FC236}">
                <a16:creationId xmlns:a16="http://schemas.microsoft.com/office/drawing/2014/main" id="{6AD4616A-E3F7-461F-800D-40E14D1123AE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23398163"/>
            <a:ext cx="8407400" cy="7440612"/>
            <a:chOff x="108973620" y="109117180"/>
            <a:chExt cx="2423160" cy="2136039"/>
          </a:xfrm>
        </p:grpSpPr>
        <p:sp>
          <p:nvSpPr>
            <p:cNvPr id="151" name="Rectangle 147" hidden="1">
              <a:extLst>
                <a:ext uri="{FF2B5EF4-FFF2-40B4-BE49-F238E27FC236}">
                  <a16:creationId xmlns:a16="http://schemas.microsoft.com/office/drawing/2014/main" id="{2C9066FC-78D1-4054-A070-10BD55447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2" name="Group 148">
              <a:extLst>
                <a:ext uri="{FF2B5EF4-FFF2-40B4-BE49-F238E27FC236}">
                  <a16:creationId xmlns:a16="http://schemas.microsoft.com/office/drawing/2014/main" id="{6A741BE6-B988-4D27-AADC-4127364F3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53" name="Text Box 149">
                <a:extLst>
                  <a:ext uri="{FF2B5EF4-FFF2-40B4-BE49-F238E27FC236}">
                    <a16:creationId xmlns:a16="http://schemas.microsoft.com/office/drawing/2014/main" id="{35A3461E-5419-4319-9B55-644101D6E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Text Box 150">
                <a:extLst>
                  <a:ext uri="{FF2B5EF4-FFF2-40B4-BE49-F238E27FC236}">
                    <a16:creationId xmlns:a16="http://schemas.microsoft.com/office/drawing/2014/main" id="{920FA195-1078-40FB-855F-C0EAA01D5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6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Future Work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5" name="Group 151">
            <a:extLst>
              <a:ext uri="{FF2B5EF4-FFF2-40B4-BE49-F238E27FC236}">
                <a16:creationId xmlns:a16="http://schemas.microsoft.com/office/drawing/2014/main" id="{388BE5B0-5981-4D7C-9F53-B148C6DB69EC}"/>
              </a:ext>
            </a:extLst>
          </p:cNvPr>
          <p:cNvGrpSpPr>
            <a:grpSpLocks/>
          </p:cNvGrpSpPr>
          <p:nvPr/>
        </p:nvGrpSpPr>
        <p:grpSpPr bwMode="auto">
          <a:xfrm>
            <a:off x="26309638" y="2722563"/>
            <a:ext cx="16827500" cy="6781800"/>
            <a:chOff x="108973620" y="109117180"/>
            <a:chExt cx="2423160" cy="2136039"/>
          </a:xfrm>
        </p:grpSpPr>
        <p:sp>
          <p:nvSpPr>
            <p:cNvPr id="156" name="Rectangle 152" hidden="1">
              <a:extLst>
                <a:ext uri="{FF2B5EF4-FFF2-40B4-BE49-F238E27FC236}">
                  <a16:creationId xmlns:a16="http://schemas.microsoft.com/office/drawing/2014/main" id="{6EBED56E-40B9-4933-8FEB-1DD982549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7" name="Group 153">
              <a:extLst>
                <a:ext uri="{FF2B5EF4-FFF2-40B4-BE49-F238E27FC236}">
                  <a16:creationId xmlns:a16="http://schemas.microsoft.com/office/drawing/2014/main" id="{60C0E6F0-D39F-401F-BFF3-45E8D7FA2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58" name="Text Box 154">
                <a:extLst>
                  <a:ext uri="{FF2B5EF4-FFF2-40B4-BE49-F238E27FC236}">
                    <a16:creationId xmlns:a16="http://schemas.microsoft.com/office/drawing/2014/main" id="{7495B5B6-A7DE-4B28-AD96-5DDAE4807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Text Box 155">
                <a:extLst>
                  <a:ext uri="{FF2B5EF4-FFF2-40B4-BE49-F238E27FC236}">
                    <a16:creationId xmlns:a16="http://schemas.microsoft.com/office/drawing/2014/main" id="{5BE0EE09-6451-4788-98B6-6089D63A8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Conclusion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60" name="Group 156">
            <a:extLst>
              <a:ext uri="{FF2B5EF4-FFF2-40B4-BE49-F238E27FC236}">
                <a16:creationId xmlns:a16="http://schemas.microsoft.com/office/drawing/2014/main" id="{92C7A26E-8DF5-43CD-8935-CB04672CC761}"/>
              </a:ext>
            </a:extLst>
          </p:cNvPr>
          <p:cNvGrpSpPr>
            <a:grpSpLocks/>
          </p:cNvGrpSpPr>
          <p:nvPr/>
        </p:nvGrpSpPr>
        <p:grpSpPr bwMode="auto">
          <a:xfrm>
            <a:off x="8825512" y="2722563"/>
            <a:ext cx="17616488" cy="6781800"/>
            <a:chOff x="108973620" y="109117180"/>
            <a:chExt cx="2423160" cy="2136039"/>
          </a:xfrm>
        </p:grpSpPr>
        <p:sp>
          <p:nvSpPr>
            <p:cNvPr id="161" name="Rectangle 157" hidden="1">
              <a:extLst>
                <a:ext uri="{FF2B5EF4-FFF2-40B4-BE49-F238E27FC236}">
                  <a16:creationId xmlns:a16="http://schemas.microsoft.com/office/drawing/2014/main" id="{4862E121-208A-48D6-B9D0-E11605273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62" name="Group 158">
              <a:extLst>
                <a:ext uri="{FF2B5EF4-FFF2-40B4-BE49-F238E27FC236}">
                  <a16:creationId xmlns:a16="http://schemas.microsoft.com/office/drawing/2014/main" id="{1B6E221B-BD72-449E-AA42-B6D410685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63" name="Text Box 159">
                <a:extLst>
                  <a:ext uri="{FF2B5EF4-FFF2-40B4-BE49-F238E27FC236}">
                    <a16:creationId xmlns:a16="http://schemas.microsoft.com/office/drawing/2014/main" id="{00F0EDD0-A580-4BB8-B3A4-43DCB9267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09049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Text Box 160">
                <a:extLst>
                  <a:ext uri="{FF2B5EF4-FFF2-40B4-BE49-F238E27FC236}">
                    <a16:creationId xmlns:a16="http://schemas.microsoft.com/office/drawing/2014/main" id="{DDE6C9A7-0975-4D56-9BCA-30A199619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1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Criteria and methodology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65" name="Rectangle 161" hidden="1">
            <a:extLst>
              <a:ext uri="{FF2B5EF4-FFF2-40B4-BE49-F238E27FC236}">
                <a16:creationId xmlns:a16="http://schemas.microsoft.com/office/drawing/2014/main" id="{94F4023A-E688-4FB5-B35D-EACF53708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9504363"/>
            <a:ext cx="34569400" cy="21334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6" name="Group 162">
            <a:extLst>
              <a:ext uri="{FF2B5EF4-FFF2-40B4-BE49-F238E27FC236}">
                <a16:creationId xmlns:a16="http://schemas.microsoft.com/office/drawing/2014/main" id="{46CE1C2C-7EA9-4985-9355-BE1FCD851F24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9504363"/>
            <a:ext cx="34569400" cy="21334412"/>
            <a:chOff x="108973620" y="109117180"/>
            <a:chExt cx="2423160" cy="2136039"/>
          </a:xfrm>
        </p:grpSpPr>
        <p:sp>
          <p:nvSpPr>
            <p:cNvPr id="167" name="Text Box 163">
              <a:extLst>
                <a:ext uri="{FF2B5EF4-FFF2-40B4-BE49-F238E27FC236}">
                  <a16:creationId xmlns:a16="http://schemas.microsoft.com/office/drawing/2014/main" id="{4BD5EB5D-0887-4F28-8E18-F290B825B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82205" y="109538719"/>
              <a:ext cx="2240280" cy="1714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FFC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This is a good place to briefly, but effectively, describe your product or services.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Text Box 164">
              <a:extLst>
                <a:ext uri="{FF2B5EF4-FFF2-40B4-BE49-F238E27FC236}">
                  <a16:creationId xmlns:a16="http://schemas.microsoft.com/office/drawing/2014/main" id="{68891E42-BDB6-4EC0-B00C-CE619930C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73620" y="109117180"/>
              <a:ext cx="2423160" cy="3028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FFC000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0" b="0" i="0" u="none" strike="noStrike" cap="none" normalizeH="0" baseline="0" dirty="0">
                  <a:ln>
                    <a:noFill/>
                  </a:ln>
                  <a:solidFill>
                    <a:srgbClr val="292929"/>
                  </a:solidFill>
                  <a:effectLst/>
                  <a:latin typeface="Cambria" panose="02040503050406030204" pitchFamily="18" charset="0"/>
                </a:rPr>
                <a:t>Analysis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9" name="Group 165">
            <a:extLst>
              <a:ext uri="{FF2B5EF4-FFF2-40B4-BE49-F238E27FC236}">
                <a16:creationId xmlns:a16="http://schemas.microsoft.com/office/drawing/2014/main" id="{D005A383-99C6-4883-B3C4-E3032067F1EB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30838775"/>
            <a:ext cx="42986325" cy="1271588"/>
            <a:chOff x="109185075" y="109070775"/>
            <a:chExt cx="2000250" cy="2228850"/>
          </a:xfrm>
        </p:grpSpPr>
        <p:sp>
          <p:nvSpPr>
            <p:cNvPr id="170" name="Rectangle 166" hidden="1">
              <a:extLst>
                <a:ext uri="{FF2B5EF4-FFF2-40B4-BE49-F238E27FC236}">
                  <a16:creationId xmlns:a16="http://schemas.microsoft.com/office/drawing/2014/main" id="{5D094484-FA35-4063-89BF-4A378607E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85075" y="109070775"/>
              <a:ext cx="2000250" cy="2228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71" name="Group 167">
              <a:extLst>
                <a:ext uri="{FF2B5EF4-FFF2-40B4-BE49-F238E27FC236}">
                  <a16:creationId xmlns:a16="http://schemas.microsoft.com/office/drawing/2014/main" id="{E79E08F3-457A-4D7B-BC8D-E79D7D737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185075" y="109070775"/>
              <a:ext cx="2000250" cy="2228850"/>
              <a:chOff x="109185075" y="109070775"/>
              <a:chExt cx="2000250" cy="2228850"/>
            </a:xfrm>
          </p:grpSpPr>
          <p:sp>
            <p:nvSpPr>
              <p:cNvPr id="172" name="Rectangle 168">
                <a:extLst>
                  <a:ext uri="{FF2B5EF4-FFF2-40B4-BE49-F238E27FC236}">
                    <a16:creationId xmlns:a16="http://schemas.microsoft.com/office/drawing/2014/main" id="{67F0EF24-504C-4348-A43D-6226D2CC9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185075" y="109070775"/>
                <a:ext cx="2000250" cy="2228850"/>
              </a:xfrm>
              <a:prstGeom prst="rect">
                <a:avLst/>
              </a:prstGeom>
              <a:noFill/>
              <a:ln w="9525" algn="in">
                <a:solidFill>
                  <a:srgbClr val="ED7D3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D7D3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Text Box 169">
                <a:extLst>
                  <a:ext uri="{FF2B5EF4-FFF2-40B4-BE49-F238E27FC236}">
                    <a16:creationId xmlns:a16="http://schemas.microsoft.com/office/drawing/2014/main" id="{E46ABFF5-AC2B-4544-8E9D-37B2E10D26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56525" y="109242225"/>
                <a:ext cx="1657350" cy="18859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FFC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8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CITATIONS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1. 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2.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3.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4.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5.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6.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7.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8.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9.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10.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11.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12.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0701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216</Words>
  <Application>Microsoft Office PowerPoint</Application>
  <PresentationFormat>Custom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Office Theme</vt:lpstr>
      <vt:lpstr>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Deshpande</dc:creator>
  <cp:lastModifiedBy>Gaurav Deshpande</cp:lastModifiedBy>
  <cp:revision>6</cp:revision>
  <dcterms:created xsi:type="dcterms:W3CDTF">2019-11-29T16:53:25Z</dcterms:created>
  <dcterms:modified xsi:type="dcterms:W3CDTF">2019-11-29T18:16:00Z</dcterms:modified>
</cp:coreProperties>
</file>