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8" r:id="rId2"/>
    <p:sldId id="259" r:id="rId3"/>
    <p:sldId id="256" r:id="rId4"/>
    <p:sldId id="257" r:id="rId5"/>
  </p:sldIdLst>
  <p:sldSz cx="43891200" cy="3291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8" autoAdjust="0"/>
    <p:restoredTop sz="94660"/>
  </p:normalViewPr>
  <p:slideViewPr>
    <p:cSldViewPr snapToGrid="0">
      <p:cViewPr>
        <p:scale>
          <a:sx n="30" d="100"/>
          <a:sy n="30" d="100"/>
        </p:scale>
        <p:origin x="840" y="-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F2AB0-DD4A-184B-9DCF-430CD49425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33914-D2E4-6C46-8976-4DCC511A5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76A7-A103-4600-9111-6BB9AD7DC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73A6E-EE7A-4B9C-877E-BDFCBCFEE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64F8C-5614-4FDE-9A44-B49BE31D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1C110-2C0B-4262-AE6C-58CD5775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55819-A818-47F7-9BD0-F105D270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4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050F-0D80-44A6-ACCB-57D9E84E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020BE-AA82-4F16-98C3-207CC64A6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816BB-287C-4FB3-87B9-DBB62588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9E518-101C-4120-BCD8-8103D46B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4AD9-F5F4-420F-A968-69D7C913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7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907F-4614-480D-8AFB-B5F703743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66CE2-5A9F-4BD4-9347-6A5446653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84066-996B-4EBC-91A4-39CAB02E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D98E8-A97A-4A91-A186-E898C278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93AAF-8606-4882-98A2-443FE8719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8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C970-7469-4372-854A-520A856E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6EBAC-FE4D-4628-9646-DBBD9515E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68B3C-F8FC-4D1A-A299-6CA7906FF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62F5D-F1F3-4917-A27B-E6F15F2C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639D0-94C7-413D-A628-2CD8D8203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04CFD-A8EA-4366-A6C1-10181F59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6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EB0E-F24A-4B68-B5FC-BA87C2AC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F3DE6-F5F3-4652-AE58-3FC590B84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39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5AFE4-5CF0-457C-BECD-5E15DE111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39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FCE780-382D-4AC4-95C9-5D783F646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1012F-7649-4928-94F8-450A21E92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E0A727-F86B-48F1-8715-C1440CF6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D02D69-0D30-4479-8FC7-CE4F8071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894E8-2AEB-4706-991B-3DBB5D30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4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7561-E30A-4E64-BBFB-C5FC9600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438B4-EF49-404F-9837-A9CB6FC7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4B149-729E-4DD4-B6B9-C840FDAF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8A292-C062-4F79-BC20-EBD4D23D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5C76D6-ADCF-4152-8671-E16559813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92BD9-9022-4B89-87DC-0BF808EF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389D7-71CD-435E-A4D9-629B3499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22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6B5E-10CB-490B-8563-A3FCA641D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F4C4A-8057-4F2A-8017-FE2B451E8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0B2EE-6243-4DE0-ABF1-8575D7336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E44F5-D38D-4934-9A53-61D61D8C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F430D-EC09-405F-8C51-BF752FBF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E586C-2564-45D8-A00A-CE12D904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2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09D0-C533-4E23-8B61-C16BE5F6C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697992-6A77-4538-AC6E-05129BCA7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8F0D2-1259-46E5-9F6D-8CF2ABB88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1AB78-59B1-46D6-8712-3D0F2ED0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FEC30-E2DC-4CD7-9AF8-24C4E3E5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49AE2-573A-4B63-BE9B-676BDC16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77D4-620C-4EC7-B708-58912047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42CF5-9453-4FF3-AC8F-C0BA39EC9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E4BA5-4E22-47EE-A31A-75A13F9E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C772F-7A70-4864-BBAB-9EF0B9D0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E4A64-71F2-4AF1-92DD-1AC2ABB4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28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FE824-E80A-46A9-8690-A435D877D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DFF03-91A1-4658-82A8-B32AF9353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D3087-3D94-44E9-AA73-2A9B4068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E21F0-7EF4-454A-95E8-38044878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5125C-01E4-4961-B2F5-69F1DE41F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1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840FD1-F484-4DBA-A78F-652BE452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87EC-E7EC-4418-BCBB-71510C692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DFF37-8A23-4108-BB18-231BEF8E98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B84BE-8907-4088-A091-8BB02B06D018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70183-08DF-43B8-A711-5CE8B5FF2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192D2-3A70-430C-A58A-92D347909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6529E-333E-40CA-AAA3-7FF54751D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30">
            <a:extLst>
              <a:ext uri="{FF2B5EF4-FFF2-40B4-BE49-F238E27FC236}">
                <a16:creationId xmlns:a16="http://schemas.microsoft.com/office/drawing/2014/main" id="{B8931247-BD65-5D41-99E0-43B21ED3D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0362" y="138562"/>
            <a:ext cx="34841085" cy="339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C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A Systematic Approach to Analyzing Syndication of Viral News Stories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 Box 129">
            <a:extLst>
              <a:ext uri="{FF2B5EF4-FFF2-40B4-BE49-F238E27FC236}">
                <a16:creationId xmlns:a16="http://schemas.microsoft.com/office/drawing/2014/main" id="{17AC0FB7-46E4-A144-BFC0-75B662479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00732"/>
            <a:ext cx="42976800" cy="2282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C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Samuel Teplov</a:t>
            </a:r>
            <a:r>
              <a:rPr lang="en-US" altLang="en-US" sz="72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Gaurav Deshpande</a:t>
            </a:r>
            <a:r>
              <a:rPr lang="en-US" altLang="en-US" sz="72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kumimoji="0" lang="en-US" altLang="en-US" sz="7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Alon Peer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7200" dirty="0">
                <a:solidFill>
                  <a:srgbClr val="000000"/>
                </a:solidFill>
                <a:latin typeface="Cambria" panose="02040503050406030204" pitchFamily="18" charset="0"/>
              </a:rPr>
              <a:t>Faculty Advisor: Dr. Nicolas Christin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16277-438D-3044-BD47-0984A42438AC}"/>
              </a:ext>
            </a:extLst>
          </p:cNvPr>
          <p:cNvSpPr txBox="1"/>
          <p:nvPr/>
        </p:nvSpPr>
        <p:spPr>
          <a:xfrm>
            <a:off x="457200" y="6260347"/>
            <a:ext cx="1802674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Problem Statement</a:t>
            </a:r>
          </a:p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4000" dirty="0"/>
              <a:t>Misinformation has become a normal occurrence in our interconnected society</a:t>
            </a:r>
          </a:p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4000" dirty="0"/>
              <a:t>Media outlets further exacerbate this problem by blindly syndicating articles</a:t>
            </a:r>
          </a:p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4000" dirty="0"/>
              <a:t>Tracing the propagation path of syndicated articles is a very tedious task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714FCD-56DF-D041-943C-43A1D0B928E2}"/>
              </a:ext>
            </a:extLst>
          </p:cNvPr>
          <p:cNvSpPr txBox="1"/>
          <p:nvPr/>
        </p:nvSpPr>
        <p:spPr>
          <a:xfrm>
            <a:off x="457199" y="13632242"/>
            <a:ext cx="180267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Objective</a:t>
            </a:r>
          </a:p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4000" dirty="0"/>
              <a:t>To create a system which automatically identifies related articles, clusters them together, and then performs analysis on the associated metadata.</a:t>
            </a:r>
            <a:endParaRPr lang="en-US" sz="8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93CD7C-C670-B645-AE78-1698553DCD12}"/>
              </a:ext>
            </a:extLst>
          </p:cNvPr>
          <p:cNvSpPr txBox="1"/>
          <p:nvPr/>
        </p:nvSpPr>
        <p:spPr>
          <a:xfrm>
            <a:off x="457198" y="27722640"/>
            <a:ext cx="1802674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Future Work</a:t>
            </a:r>
          </a:p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4800" dirty="0"/>
              <a:t>Create a fully automated process to analyze propagation paths of syndicated articles and identify articles’ origin</a:t>
            </a:r>
          </a:p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4800" dirty="0"/>
              <a:t>Incorporate our work into already existing fake news classification models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8D6A0-E870-CE41-97BC-B83CD40B35F6}"/>
              </a:ext>
            </a:extLst>
          </p:cNvPr>
          <p:cNvSpPr txBox="1"/>
          <p:nvPr/>
        </p:nvSpPr>
        <p:spPr>
          <a:xfrm>
            <a:off x="21945600" y="5345830"/>
            <a:ext cx="180267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Methodology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33B4F78-A4B7-0C49-A1F1-9DEBDE578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9388" y="8757416"/>
            <a:ext cx="5209107" cy="311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55BCDF6-5A3B-3D47-8BCC-E29841DFE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8879" y="10027949"/>
            <a:ext cx="4720481" cy="168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DB2E47D-D243-7A41-8E9E-5E32B321E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1166" y="8936683"/>
            <a:ext cx="4935908" cy="132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C2922A7-1B8B-0740-9F8B-15F4A8E98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5373" y="9142728"/>
            <a:ext cx="4041057" cy="188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 descr="A picture containing monitor, screen, clock, game&#10;&#10;Description automatically generated">
            <a:extLst>
              <a:ext uri="{FF2B5EF4-FFF2-40B4-BE49-F238E27FC236}">
                <a16:creationId xmlns:a16="http://schemas.microsoft.com/office/drawing/2014/main" id="{3177A7AC-256B-5940-A95F-53EE3F7587E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83" t="41762"/>
          <a:stretch/>
        </p:blipFill>
        <p:spPr>
          <a:xfrm>
            <a:off x="28581321" y="17140630"/>
            <a:ext cx="4962838" cy="4806769"/>
          </a:xfrm>
          <a:prstGeom prst="rect">
            <a:avLst/>
          </a:prstGeom>
        </p:spPr>
      </p:pic>
      <p:pic>
        <p:nvPicPr>
          <p:cNvPr id="58" name="Picture 57" descr="A close up of a screen&#10;&#10;Description automatically generated">
            <a:extLst>
              <a:ext uri="{FF2B5EF4-FFF2-40B4-BE49-F238E27FC236}">
                <a16:creationId xmlns:a16="http://schemas.microsoft.com/office/drawing/2014/main" id="{4C25CBD0-2679-AA46-A7EE-DB869A3E782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31"/>
          <a:stretch/>
        </p:blipFill>
        <p:spPr>
          <a:xfrm>
            <a:off x="35980361" y="17034001"/>
            <a:ext cx="6656216" cy="4937580"/>
          </a:xfrm>
          <a:prstGeom prst="rect">
            <a:avLst/>
          </a:prstGeom>
        </p:spPr>
      </p:pic>
      <p:pic>
        <p:nvPicPr>
          <p:cNvPr id="60" name="Picture 59" descr="A close up of a sign&#10;&#10;Description automatically generated">
            <a:extLst>
              <a:ext uri="{FF2B5EF4-FFF2-40B4-BE49-F238E27FC236}">
                <a16:creationId xmlns:a16="http://schemas.microsoft.com/office/drawing/2014/main" id="{6E16C92D-76F3-F348-A975-6C4D93228B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40" y="504354"/>
            <a:ext cx="3526713" cy="3526713"/>
          </a:xfrm>
          <a:prstGeom prst="rect">
            <a:avLst/>
          </a:prstGeom>
        </p:spPr>
      </p:pic>
      <p:pic>
        <p:nvPicPr>
          <p:cNvPr id="67" name="Picture 66" descr="A close up of a sign&#10;&#10;Description automatically generated">
            <a:extLst>
              <a:ext uri="{FF2B5EF4-FFF2-40B4-BE49-F238E27FC236}">
                <a16:creationId xmlns:a16="http://schemas.microsoft.com/office/drawing/2014/main" id="{4E71B500-B2C7-FA44-A3DE-C3CE10D5AB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1447" y="504354"/>
            <a:ext cx="3526713" cy="3526713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352A94F-5CD8-9842-A7BE-BE917EAA5A50}"/>
              </a:ext>
            </a:extLst>
          </p:cNvPr>
          <p:cNvSpPr/>
          <p:nvPr/>
        </p:nvSpPr>
        <p:spPr>
          <a:xfrm>
            <a:off x="19329376" y="12027921"/>
            <a:ext cx="6656216" cy="19637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C4987D-DC34-8946-8979-9BA9BD64DE49}"/>
              </a:ext>
            </a:extLst>
          </p:cNvPr>
          <p:cNvSpPr txBox="1"/>
          <p:nvPr/>
        </p:nvSpPr>
        <p:spPr>
          <a:xfrm>
            <a:off x="19879389" y="11487318"/>
            <a:ext cx="5556190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sz="5400" dirty="0"/>
          </a:p>
          <a:p>
            <a:pPr algn="ctr"/>
            <a:r>
              <a:rPr lang="en-US" sz="4400" dirty="0"/>
              <a:t>Identification of Viral News</a:t>
            </a:r>
          </a:p>
          <a:p>
            <a:endParaRPr lang="en-US" sz="5400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DF1B2EF-E1BB-5D44-BDB0-FF23AC2428CA}"/>
              </a:ext>
            </a:extLst>
          </p:cNvPr>
          <p:cNvSpPr/>
          <p:nvPr/>
        </p:nvSpPr>
        <p:spPr>
          <a:xfrm>
            <a:off x="27917132" y="12027921"/>
            <a:ext cx="6656216" cy="19637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DACADB-0E39-0844-B68B-05EEBC6747F3}"/>
              </a:ext>
            </a:extLst>
          </p:cNvPr>
          <p:cNvSpPr txBox="1"/>
          <p:nvPr/>
        </p:nvSpPr>
        <p:spPr>
          <a:xfrm>
            <a:off x="28467145" y="11487318"/>
            <a:ext cx="5556190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sz="5400" dirty="0"/>
          </a:p>
          <a:p>
            <a:pPr algn="ctr"/>
            <a:r>
              <a:rPr lang="en-US" sz="4400" dirty="0"/>
              <a:t>Gathering Similar Articles</a:t>
            </a:r>
          </a:p>
          <a:p>
            <a:endParaRPr lang="en-US" sz="5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1E55E4B-E4F0-9F44-BD6C-4A1F713069B6}"/>
              </a:ext>
            </a:extLst>
          </p:cNvPr>
          <p:cNvSpPr/>
          <p:nvPr/>
        </p:nvSpPr>
        <p:spPr>
          <a:xfrm>
            <a:off x="19123692" y="8258890"/>
            <a:ext cx="7079804" cy="6336708"/>
          </a:xfrm>
          <a:prstGeom prst="round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1E1BB3A-F7B5-B64F-A3DC-CFBC115A550D}"/>
              </a:ext>
            </a:extLst>
          </p:cNvPr>
          <p:cNvSpPr/>
          <p:nvPr/>
        </p:nvSpPr>
        <p:spPr>
          <a:xfrm>
            <a:off x="27692246" y="8318701"/>
            <a:ext cx="7079804" cy="6336708"/>
          </a:xfrm>
          <a:prstGeom prst="round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03D2E0-DE05-9749-A9A5-9073B552BE14}"/>
              </a:ext>
            </a:extLst>
          </p:cNvPr>
          <p:cNvCxnSpPr>
            <a:cxnSpLocks/>
          </p:cNvCxnSpPr>
          <p:nvPr/>
        </p:nvCxnSpPr>
        <p:spPr>
          <a:xfrm>
            <a:off x="26362524" y="11455186"/>
            <a:ext cx="1162173" cy="0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32BF3D1-8465-8349-9103-B5B511F1262D}"/>
              </a:ext>
            </a:extLst>
          </p:cNvPr>
          <p:cNvSpPr/>
          <p:nvPr/>
        </p:nvSpPr>
        <p:spPr>
          <a:xfrm>
            <a:off x="36456969" y="12117350"/>
            <a:ext cx="6656216" cy="19637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81C941-CFF1-4444-926A-2562B51902AA}"/>
              </a:ext>
            </a:extLst>
          </p:cNvPr>
          <p:cNvSpPr txBox="1"/>
          <p:nvPr/>
        </p:nvSpPr>
        <p:spPr>
          <a:xfrm>
            <a:off x="37006982" y="11775532"/>
            <a:ext cx="5556190" cy="24314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sz="5400" dirty="0"/>
          </a:p>
          <a:p>
            <a:pPr algn="ctr"/>
            <a:r>
              <a:rPr lang="en-US" sz="4400" dirty="0"/>
              <a:t>Web Scraping</a:t>
            </a:r>
          </a:p>
          <a:p>
            <a:endParaRPr lang="en-US" sz="5400" dirty="0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2930DE5-76BC-1649-8049-1137278BE5C8}"/>
              </a:ext>
            </a:extLst>
          </p:cNvPr>
          <p:cNvSpPr/>
          <p:nvPr/>
        </p:nvSpPr>
        <p:spPr>
          <a:xfrm>
            <a:off x="36232083" y="8408130"/>
            <a:ext cx="7079804" cy="6336708"/>
          </a:xfrm>
          <a:prstGeom prst="round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picture containing knife&#10;&#10;Description automatically generated">
            <a:extLst>
              <a:ext uri="{FF2B5EF4-FFF2-40B4-BE49-F238E27FC236}">
                <a16:creationId xmlns:a16="http://schemas.microsoft.com/office/drawing/2014/main" id="{B2B2F9C7-13EA-BD4F-8D4C-C076E1B97E7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1" t="17369" r="18447" b="27435"/>
          <a:stretch/>
        </p:blipFill>
        <p:spPr>
          <a:xfrm>
            <a:off x="36520513" y="8739369"/>
            <a:ext cx="4674303" cy="1679075"/>
          </a:xfrm>
          <a:prstGeom prst="rect">
            <a:avLst/>
          </a:prstGeom>
        </p:spPr>
      </p:pic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839FCF1E-2700-EB4A-92E0-D314379C71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7300" y="10462178"/>
            <a:ext cx="3422357" cy="1368943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83E5BF5-383D-0645-AF8C-708E63B2F070}"/>
              </a:ext>
            </a:extLst>
          </p:cNvPr>
          <p:cNvCxnSpPr>
            <a:cxnSpLocks/>
          </p:cNvCxnSpPr>
          <p:nvPr/>
        </p:nvCxnSpPr>
        <p:spPr>
          <a:xfrm>
            <a:off x="34942662" y="11455186"/>
            <a:ext cx="1162173" cy="0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Can 25">
            <a:extLst>
              <a:ext uri="{FF2B5EF4-FFF2-40B4-BE49-F238E27FC236}">
                <a16:creationId xmlns:a16="http://schemas.microsoft.com/office/drawing/2014/main" id="{B61A0879-3853-9D47-BBA5-A27A555A4283}"/>
              </a:ext>
            </a:extLst>
          </p:cNvPr>
          <p:cNvSpPr/>
          <p:nvPr/>
        </p:nvSpPr>
        <p:spPr>
          <a:xfrm>
            <a:off x="20742175" y="16946131"/>
            <a:ext cx="3931571" cy="3539404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464B1AFB-4B48-6D46-8331-9FA88AFB12C4}"/>
              </a:ext>
            </a:extLst>
          </p:cNvPr>
          <p:cNvSpPr/>
          <p:nvPr/>
        </p:nvSpPr>
        <p:spPr>
          <a:xfrm>
            <a:off x="19529027" y="21026476"/>
            <a:ext cx="6200978" cy="187842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3D9779-285E-A142-AC11-224D882809E8}"/>
              </a:ext>
            </a:extLst>
          </p:cNvPr>
          <p:cNvSpPr txBox="1"/>
          <p:nvPr/>
        </p:nvSpPr>
        <p:spPr>
          <a:xfrm>
            <a:off x="20047948" y="20075982"/>
            <a:ext cx="5241140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sz="5400" dirty="0"/>
          </a:p>
          <a:p>
            <a:pPr algn="ctr"/>
            <a:r>
              <a:rPr lang="en-US" sz="4400" dirty="0"/>
              <a:t>Dataset Aggregation &amp;</a:t>
            </a:r>
          </a:p>
          <a:p>
            <a:pPr algn="ctr"/>
            <a:r>
              <a:rPr lang="en-US" sz="4400" dirty="0"/>
              <a:t>Pre-Processing</a:t>
            </a:r>
          </a:p>
          <a:p>
            <a:endParaRPr lang="en-US" sz="5400" dirty="0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D6E9D114-DA11-1B43-A0FE-10978AB75903}"/>
              </a:ext>
            </a:extLst>
          </p:cNvPr>
          <p:cNvSpPr/>
          <p:nvPr/>
        </p:nvSpPr>
        <p:spPr>
          <a:xfrm>
            <a:off x="19123692" y="16855252"/>
            <a:ext cx="7079804" cy="6336708"/>
          </a:xfrm>
          <a:prstGeom prst="round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E9DA36DC-E2DD-AE4E-979B-26DB2AF3483C}"/>
              </a:ext>
            </a:extLst>
          </p:cNvPr>
          <p:cNvSpPr/>
          <p:nvPr/>
        </p:nvSpPr>
        <p:spPr>
          <a:xfrm>
            <a:off x="27692245" y="16966353"/>
            <a:ext cx="15619641" cy="6336708"/>
          </a:xfrm>
          <a:prstGeom prst="round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C127A7-A13F-554D-811C-A6CB7E874E9E}"/>
              </a:ext>
            </a:extLst>
          </p:cNvPr>
          <p:cNvSpPr txBox="1"/>
          <p:nvPr/>
        </p:nvSpPr>
        <p:spPr>
          <a:xfrm>
            <a:off x="20916772" y="17985196"/>
            <a:ext cx="36755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CSV of articles and meta data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73D63EA6-A1C6-B94C-8832-4F1B6A8D53D3}"/>
              </a:ext>
            </a:extLst>
          </p:cNvPr>
          <p:cNvSpPr/>
          <p:nvPr/>
        </p:nvSpPr>
        <p:spPr>
          <a:xfrm>
            <a:off x="32508772" y="22111693"/>
            <a:ext cx="4962838" cy="10163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5CCF6-27C8-C04D-87F9-FA3622920E88}"/>
              </a:ext>
            </a:extLst>
          </p:cNvPr>
          <p:cNvSpPr txBox="1"/>
          <p:nvPr/>
        </p:nvSpPr>
        <p:spPr>
          <a:xfrm>
            <a:off x="33298428" y="21379546"/>
            <a:ext cx="3631335" cy="24314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sz="5400" dirty="0"/>
          </a:p>
          <a:p>
            <a:pPr algn="ctr"/>
            <a:r>
              <a:rPr lang="en-US" sz="4400" dirty="0"/>
              <a:t>Clustering</a:t>
            </a:r>
          </a:p>
          <a:p>
            <a:endParaRPr lang="en-US" sz="5400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475322-244B-2747-AA3A-55076E644885}"/>
              </a:ext>
            </a:extLst>
          </p:cNvPr>
          <p:cNvCxnSpPr>
            <a:cxnSpLocks/>
          </p:cNvCxnSpPr>
          <p:nvPr/>
        </p:nvCxnSpPr>
        <p:spPr>
          <a:xfrm>
            <a:off x="26362523" y="20033107"/>
            <a:ext cx="1162173" cy="0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D010EE6-F539-A045-9378-455639284D54}"/>
              </a:ext>
            </a:extLst>
          </p:cNvPr>
          <p:cNvSpPr/>
          <p:nvPr/>
        </p:nvSpPr>
        <p:spPr>
          <a:xfrm>
            <a:off x="18722483" y="7068054"/>
            <a:ext cx="24950059" cy="8002967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FB57B3-8211-D149-A9A3-C76DFD2A70F4}"/>
              </a:ext>
            </a:extLst>
          </p:cNvPr>
          <p:cNvSpPr txBox="1"/>
          <p:nvPr/>
        </p:nvSpPr>
        <p:spPr>
          <a:xfrm>
            <a:off x="25845703" y="7094472"/>
            <a:ext cx="107728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Stage 1 - Data Collection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428A109-9212-8644-B310-1053DD9E3826}"/>
              </a:ext>
            </a:extLst>
          </p:cNvPr>
          <p:cNvSpPr/>
          <p:nvPr/>
        </p:nvSpPr>
        <p:spPr>
          <a:xfrm>
            <a:off x="18722482" y="15887154"/>
            <a:ext cx="24950059" cy="7819252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9F79676-EB2C-7A4E-BD21-6572DC35D89D}"/>
              </a:ext>
            </a:extLst>
          </p:cNvPr>
          <p:cNvSpPr txBox="1"/>
          <p:nvPr/>
        </p:nvSpPr>
        <p:spPr>
          <a:xfrm>
            <a:off x="24513258" y="15831252"/>
            <a:ext cx="133685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Stage 2 – Applying Big Data Techniques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B6B82E98-830F-D24E-8574-DEE874456397}"/>
              </a:ext>
            </a:extLst>
          </p:cNvPr>
          <p:cNvSpPr/>
          <p:nvPr/>
        </p:nvSpPr>
        <p:spPr>
          <a:xfrm>
            <a:off x="19123692" y="25664026"/>
            <a:ext cx="24188194" cy="6336708"/>
          </a:xfrm>
          <a:prstGeom prst="round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0CE4E0B-59CD-A24C-AECC-2B308D75F95C}"/>
              </a:ext>
            </a:extLst>
          </p:cNvPr>
          <p:cNvSpPr/>
          <p:nvPr/>
        </p:nvSpPr>
        <p:spPr>
          <a:xfrm>
            <a:off x="18722480" y="24471655"/>
            <a:ext cx="24950059" cy="8284899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D4FEBB-81E9-4E40-9B16-0C94E7B92F6F}"/>
              </a:ext>
            </a:extLst>
          </p:cNvPr>
          <p:cNvSpPr txBox="1"/>
          <p:nvPr/>
        </p:nvSpPr>
        <p:spPr>
          <a:xfrm>
            <a:off x="24274718" y="24526950"/>
            <a:ext cx="133685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Stage 3 – Data Analysis</a:t>
            </a:r>
          </a:p>
        </p:txBody>
      </p:sp>
      <p:pic>
        <p:nvPicPr>
          <p:cNvPr id="75" name="Picture 74" descr="A screenshot of a cell phone&#10;&#10;Description automatically generated">
            <a:extLst>
              <a:ext uri="{FF2B5EF4-FFF2-40B4-BE49-F238E27FC236}">
                <a16:creationId xmlns:a16="http://schemas.microsoft.com/office/drawing/2014/main" id="{F8C8E745-850A-A146-B5DF-BBD6C57ED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7537" y="25920312"/>
            <a:ext cx="5943957" cy="4782670"/>
          </a:xfrm>
          <a:prstGeom prst="rect">
            <a:avLst/>
          </a:prstGeom>
        </p:spPr>
      </p:pic>
      <p:pic>
        <p:nvPicPr>
          <p:cNvPr id="77" name="Picture 76" descr="A screenshot of a cell phone&#10;&#10;Description automatically generated">
            <a:extLst>
              <a:ext uri="{FF2B5EF4-FFF2-40B4-BE49-F238E27FC236}">
                <a16:creationId xmlns:a16="http://schemas.microsoft.com/office/drawing/2014/main" id="{CDBC3038-B0DC-D842-AC2E-005875B836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7127" y="25813738"/>
            <a:ext cx="5779450" cy="4735518"/>
          </a:xfrm>
          <a:prstGeom prst="rect">
            <a:avLst/>
          </a:prstGeom>
        </p:spPr>
      </p:pic>
      <p:pic>
        <p:nvPicPr>
          <p:cNvPr id="85" name="Picture 84" descr="A screenshot of a cell phone&#10;&#10;Description automatically generated">
            <a:extLst>
              <a:ext uri="{FF2B5EF4-FFF2-40B4-BE49-F238E27FC236}">
                <a16:creationId xmlns:a16="http://schemas.microsoft.com/office/drawing/2014/main" id="{8524A48F-666B-C24B-AC66-662D44A95B7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6873" y="25771025"/>
            <a:ext cx="6250549" cy="4952967"/>
          </a:xfrm>
          <a:prstGeom prst="rect">
            <a:avLst/>
          </a:prstGeom>
        </p:spPr>
      </p:pic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AC792DD0-3059-744E-AC3C-1F68EFCC8935}"/>
              </a:ext>
            </a:extLst>
          </p:cNvPr>
          <p:cNvSpPr/>
          <p:nvPr/>
        </p:nvSpPr>
        <p:spPr>
          <a:xfrm>
            <a:off x="28698857" y="30702982"/>
            <a:ext cx="5897104" cy="113342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CDC7F7B-8E4D-BB40-9FED-E11EC4EB8EF8}"/>
              </a:ext>
            </a:extLst>
          </p:cNvPr>
          <p:cNvSpPr txBox="1"/>
          <p:nvPr/>
        </p:nvSpPr>
        <p:spPr>
          <a:xfrm>
            <a:off x="28749349" y="29769424"/>
            <a:ext cx="5897104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sz="5400" dirty="0"/>
          </a:p>
          <a:p>
            <a:pPr algn="ctr"/>
            <a:r>
              <a:rPr lang="en-US" sz="4400" dirty="0"/>
              <a:t>Analyzing Propagation of Articles</a:t>
            </a:r>
          </a:p>
          <a:p>
            <a:endParaRPr lang="en-US" sz="5400" dirty="0"/>
          </a:p>
        </p:txBody>
      </p:sp>
      <p:sp>
        <p:nvSpPr>
          <p:cNvPr id="86" name="Down Arrow 85">
            <a:extLst>
              <a:ext uri="{FF2B5EF4-FFF2-40B4-BE49-F238E27FC236}">
                <a16:creationId xmlns:a16="http://schemas.microsoft.com/office/drawing/2014/main" id="{636723F6-D13B-F94D-AAC6-62BB1DDB7934}"/>
              </a:ext>
            </a:extLst>
          </p:cNvPr>
          <p:cNvSpPr/>
          <p:nvPr/>
        </p:nvSpPr>
        <p:spPr>
          <a:xfrm>
            <a:off x="30754507" y="15086707"/>
            <a:ext cx="886004" cy="704589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Down Arrow 92">
            <a:extLst>
              <a:ext uri="{FF2B5EF4-FFF2-40B4-BE49-F238E27FC236}">
                <a16:creationId xmlns:a16="http://schemas.microsoft.com/office/drawing/2014/main" id="{7FF9AE5B-1302-CC47-BB17-70C8DDBDDBC5}"/>
              </a:ext>
            </a:extLst>
          </p:cNvPr>
          <p:cNvSpPr/>
          <p:nvPr/>
        </p:nvSpPr>
        <p:spPr>
          <a:xfrm>
            <a:off x="30363755" y="23722201"/>
            <a:ext cx="886004" cy="704589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8640EE-9401-8C4A-AF94-B2AC86E9F4BC}"/>
              </a:ext>
            </a:extLst>
          </p:cNvPr>
          <p:cNvSpPr txBox="1"/>
          <p:nvPr/>
        </p:nvSpPr>
        <p:spPr>
          <a:xfrm>
            <a:off x="491455" y="20213413"/>
            <a:ext cx="1802674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Contributions</a:t>
            </a:r>
          </a:p>
          <a:p>
            <a:r>
              <a:rPr lang="en-US" sz="4800" dirty="0"/>
              <a:t>       Semi automatic search of related articles</a:t>
            </a:r>
          </a:p>
          <a:p>
            <a:endParaRPr lang="en-US" sz="4800" dirty="0"/>
          </a:p>
          <a:p>
            <a:pPr fontAlgn="base"/>
            <a:r>
              <a:rPr lang="en-US" sz="4800" dirty="0"/>
              <a:t>       Classification of related articles based on similarity score</a:t>
            </a:r>
          </a:p>
          <a:p>
            <a:pPr fontAlgn="base"/>
            <a:endParaRPr lang="en-US" sz="4800" dirty="0"/>
          </a:p>
          <a:p>
            <a:pPr fontAlgn="base"/>
            <a:r>
              <a:rPr lang="en-US" sz="4800" dirty="0"/>
              <a:t>       Identification of propagation path</a:t>
            </a:r>
          </a:p>
          <a:p>
            <a:pPr fontAlgn="base"/>
            <a:endParaRPr lang="en-US" sz="4800" dirty="0"/>
          </a:p>
          <a:p>
            <a:pPr fontAlgn="base"/>
            <a:r>
              <a:rPr lang="en-US" sz="4800" dirty="0"/>
              <a:t>       Analyze of various metadata features </a:t>
            </a:r>
          </a:p>
        </p:txBody>
      </p:sp>
      <p:pic>
        <p:nvPicPr>
          <p:cNvPr id="13" name="Graphic 12" descr="Magnifying glass">
            <a:extLst>
              <a:ext uri="{FF2B5EF4-FFF2-40B4-BE49-F238E27FC236}">
                <a16:creationId xmlns:a16="http://schemas.microsoft.com/office/drawing/2014/main" id="{1DC0FC10-1E0E-2B45-B6BB-AF545F4C2E8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3356" y="21325407"/>
            <a:ext cx="786286" cy="786286"/>
          </a:xfrm>
          <a:prstGeom prst="rect">
            <a:avLst/>
          </a:prstGeom>
        </p:spPr>
      </p:pic>
      <p:pic>
        <p:nvPicPr>
          <p:cNvPr id="16" name="Graphic 15" descr="Flowchart">
            <a:extLst>
              <a:ext uri="{FF2B5EF4-FFF2-40B4-BE49-F238E27FC236}">
                <a16:creationId xmlns:a16="http://schemas.microsoft.com/office/drawing/2014/main" id="{1B68A216-3D46-9B45-9DDE-75BFFAD668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9299" y="22726922"/>
            <a:ext cx="914400" cy="914400"/>
          </a:xfrm>
          <a:prstGeom prst="rect">
            <a:avLst/>
          </a:prstGeom>
        </p:spPr>
      </p:pic>
      <p:pic>
        <p:nvPicPr>
          <p:cNvPr id="18" name="Graphic 17" descr="Statistics">
            <a:extLst>
              <a:ext uri="{FF2B5EF4-FFF2-40B4-BE49-F238E27FC236}">
                <a16:creationId xmlns:a16="http://schemas.microsoft.com/office/drawing/2014/main" id="{0EE8F240-EB4B-BA43-9021-56DCF47B0BF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9299" y="25843469"/>
            <a:ext cx="914400" cy="914400"/>
          </a:xfrm>
          <a:prstGeom prst="rect">
            <a:avLst/>
          </a:prstGeom>
        </p:spPr>
      </p:pic>
      <p:pic>
        <p:nvPicPr>
          <p:cNvPr id="21" name="Graphic 20" descr="Playbook">
            <a:extLst>
              <a:ext uri="{FF2B5EF4-FFF2-40B4-BE49-F238E27FC236}">
                <a16:creationId xmlns:a16="http://schemas.microsoft.com/office/drawing/2014/main" id="{165E3057-EDD8-F74E-A65D-A426FC1B819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5998" y="242565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26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353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A4F4C1-B55B-4999-8699-9261033D93FF}"/>
              </a:ext>
            </a:extLst>
          </p:cNvPr>
          <p:cNvSpPr/>
          <p:nvPr/>
        </p:nvSpPr>
        <p:spPr>
          <a:xfrm>
            <a:off x="16586323" y="13754283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A0ABAD-537B-4131-990E-2A8C678AB2C6}"/>
              </a:ext>
            </a:extLst>
          </p:cNvPr>
          <p:cNvSpPr/>
          <p:nvPr/>
        </p:nvSpPr>
        <p:spPr>
          <a:xfrm>
            <a:off x="18599607" y="13754283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15740-537B-4BC9-9172-4B7AC042C54A}"/>
              </a:ext>
            </a:extLst>
          </p:cNvPr>
          <p:cNvSpPr/>
          <p:nvPr/>
        </p:nvSpPr>
        <p:spPr>
          <a:xfrm>
            <a:off x="20612891" y="13754283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0197E3-39A1-4B74-A541-40B0A4AD0A13}"/>
              </a:ext>
            </a:extLst>
          </p:cNvPr>
          <p:cNvSpPr/>
          <p:nvPr/>
        </p:nvSpPr>
        <p:spPr>
          <a:xfrm>
            <a:off x="22618153" y="13754283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9CE57F-9CFA-4649-91A0-3F4EBE431524}"/>
              </a:ext>
            </a:extLst>
          </p:cNvPr>
          <p:cNvSpPr/>
          <p:nvPr/>
        </p:nvSpPr>
        <p:spPr>
          <a:xfrm>
            <a:off x="24617581" y="13781586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6883D3-3D5B-4B55-98D0-69FB53DE742C}"/>
              </a:ext>
            </a:extLst>
          </p:cNvPr>
          <p:cNvSpPr/>
          <p:nvPr/>
        </p:nvSpPr>
        <p:spPr>
          <a:xfrm>
            <a:off x="26617009" y="13754283"/>
            <a:ext cx="1420941" cy="91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614C0C-0C43-4678-9795-49820EBCC887}"/>
              </a:ext>
            </a:extLst>
          </p:cNvPr>
          <p:cNvSpPr txBox="1"/>
          <p:nvPr/>
        </p:nvSpPr>
        <p:spPr>
          <a:xfrm>
            <a:off x="16586323" y="13948774"/>
            <a:ext cx="142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Identification of viral news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8FB08A-677A-4EB7-A3F3-5E9B91C5B6D7}"/>
              </a:ext>
            </a:extLst>
          </p:cNvPr>
          <p:cNvSpPr txBox="1"/>
          <p:nvPr/>
        </p:nvSpPr>
        <p:spPr>
          <a:xfrm>
            <a:off x="18613463" y="13841052"/>
            <a:ext cx="1420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Gathering relevant news stories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67DFBE-096D-4E63-96E5-431E71358642}"/>
              </a:ext>
            </a:extLst>
          </p:cNvPr>
          <p:cNvSpPr txBox="1"/>
          <p:nvPr/>
        </p:nvSpPr>
        <p:spPr>
          <a:xfrm>
            <a:off x="20626747" y="13887218"/>
            <a:ext cx="142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Web scraping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064C37-EA4F-468C-A2AB-88AF9B18BF44}"/>
              </a:ext>
            </a:extLst>
          </p:cNvPr>
          <p:cNvSpPr txBox="1"/>
          <p:nvPr/>
        </p:nvSpPr>
        <p:spPr>
          <a:xfrm>
            <a:off x="22618153" y="13979551"/>
            <a:ext cx="142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Pre-processing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20CCD9-52EF-4F8F-9D49-FA98E90BB868}"/>
              </a:ext>
            </a:extLst>
          </p:cNvPr>
          <p:cNvSpPr txBox="1"/>
          <p:nvPr/>
        </p:nvSpPr>
        <p:spPr>
          <a:xfrm>
            <a:off x="24603725" y="14083802"/>
            <a:ext cx="142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Clustering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FC92C0-C28F-42EB-A5B0-B10B39EB43FB}"/>
              </a:ext>
            </a:extLst>
          </p:cNvPr>
          <p:cNvSpPr txBox="1"/>
          <p:nvPr/>
        </p:nvSpPr>
        <p:spPr>
          <a:xfrm>
            <a:off x="26617009" y="14056497"/>
            <a:ext cx="142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E33AAC8-FCF5-4F0E-BF41-0505A288B8B2}"/>
              </a:ext>
            </a:extLst>
          </p:cNvPr>
          <p:cNvSpPr/>
          <p:nvPr/>
        </p:nvSpPr>
        <p:spPr>
          <a:xfrm>
            <a:off x="18007264" y="14042940"/>
            <a:ext cx="578487" cy="33488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2FD088A-370A-4A2B-9FD3-69E2E19D64EE}"/>
              </a:ext>
            </a:extLst>
          </p:cNvPr>
          <p:cNvSpPr/>
          <p:nvPr/>
        </p:nvSpPr>
        <p:spPr>
          <a:xfrm>
            <a:off x="20038538" y="14029385"/>
            <a:ext cx="578487" cy="33488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DB39CA9-E334-4CC9-A54A-4D7916FC92EC}"/>
              </a:ext>
            </a:extLst>
          </p:cNvPr>
          <p:cNvSpPr/>
          <p:nvPr/>
        </p:nvSpPr>
        <p:spPr>
          <a:xfrm>
            <a:off x="22033831" y="14013051"/>
            <a:ext cx="578487" cy="33488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EEAD328-E261-4C1D-8B32-F0F694BCB085}"/>
              </a:ext>
            </a:extLst>
          </p:cNvPr>
          <p:cNvSpPr/>
          <p:nvPr/>
        </p:nvSpPr>
        <p:spPr>
          <a:xfrm>
            <a:off x="26038522" y="14042940"/>
            <a:ext cx="578487" cy="33488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9B18CEBB-E9B8-4DF9-B871-8380491F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0811" y="9373620"/>
            <a:ext cx="14641507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0" name="Subtitle 29">
            <a:extLst>
              <a:ext uri="{FF2B5EF4-FFF2-40B4-BE49-F238E27FC236}">
                <a16:creationId xmlns:a16="http://schemas.microsoft.com/office/drawing/2014/main" id="{D60ABE12-2E83-45AC-A103-E37D81BF86E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437518" y="16459200"/>
            <a:ext cx="6535782" cy="281940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dirty="0"/>
              <a:t>Phases:</a:t>
            </a:r>
          </a:p>
          <a:p>
            <a:pPr algn="l"/>
            <a:r>
              <a:rPr lang="en-US" dirty="0"/>
              <a:t>Phase I   : 	Manual Approach</a:t>
            </a:r>
          </a:p>
          <a:p>
            <a:pPr algn="l"/>
            <a:r>
              <a:rPr lang="en-US" dirty="0"/>
              <a:t>Phase II  : 	Semi-automated Approach</a:t>
            </a:r>
          </a:p>
          <a:p>
            <a:pPr algn="l"/>
            <a:r>
              <a:rPr lang="en-US" dirty="0"/>
              <a:t>Phase III :	Fully-automated Approach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2177A9E-FDD1-43AA-972F-D228AE80F3FC}"/>
              </a:ext>
            </a:extLst>
          </p:cNvPr>
          <p:cNvSpPr/>
          <p:nvPr/>
        </p:nvSpPr>
        <p:spPr>
          <a:xfrm>
            <a:off x="14520013" y="17114520"/>
            <a:ext cx="311339" cy="10896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0BC0D1-E2FF-4814-9F77-FD0262336964}"/>
              </a:ext>
            </a:extLst>
          </p:cNvPr>
          <p:cNvSpPr txBox="1"/>
          <p:nvPr/>
        </p:nvSpPr>
        <p:spPr>
          <a:xfrm>
            <a:off x="14831352" y="17535827"/>
            <a:ext cx="136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62963FA1-CA85-4C0A-89E9-404D4902FE70}"/>
              </a:ext>
            </a:extLst>
          </p:cNvPr>
          <p:cNvSpPr/>
          <p:nvPr/>
        </p:nvSpPr>
        <p:spPr>
          <a:xfrm>
            <a:off x="24039094" y="14013051"/>
            <a:ext cx="578487" cy="33488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4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17" hidden="1">
            <a:extLst>
              <a:ext uri="{FF2B5EF4-FFF2-40B4-BE49-F238E27FC236}">
                <a16:creationId xmlns:a16="http://schemas.microsoft.com/office/drawing/2014/main" id="{472AFD39-0243-4DE8-BAB0-26A9FCF0C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5" y="9499600"/>
            <a:ext cx="34569400" cy="213344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30" name="Group 126">
            <a:extLst>
              <a:ext uri="{FF2B5EF4-FFF2-40B4-BE49-F238E27FC236}">
                <a16:creationId xmlns:a16="http://schemas.microsoft.com/office/drawing/2014/main" id="{399A0FCB-B8DE-4D40-B752-D30C4C93A610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155575"/>
            <a:ext cx="42976800" cy="2566988"/>
            <a:chOff x="107625832" y="109678470"/>
            <a:chExt cx="5118735" cy="1013460"/>
          </a:xfrm>
        </p:grpSpPr>
        <p:sp>
          <p:nvSpPr>
            <p:cNvPr id="131" name="Rectangle 127" hidden="1">
              <a:extLst>
                <a:ext uri="{FF2B5EF4-FFF2-40B4-BE49-F238E27FC236}">
                  <a16:creationId xmlns:a16="http://schemas.microsoft.com/office/drawing/2014/main" id="{0CF3D184-2333-4B4C-8B90-29CF58E12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25832" y="109678470"/>
              <a:ext cx="5118735" cy="10134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32" name="Group 128">
              <a:extLst>
                <a:ext uri="{FF2B5EF4-FFF2-40B4-BE49-F238E27FC236}">
                  <a16:creationId xmlns:a16="http://schemas.microsoft.com/office/drawing/2014/main" id="{D4965646-B239-4295-BD68-D8FE9907A0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625832" y="109678470"/>
              <a:ext cx="5118735" cy="1013460"/>
              <a:chOff x="107625832" y="109678470"/>
              <a:chExt cx="5118735" cy="1013460"/>
            </a:xfrm>
          </p:grpSpPr>
          <p:sp>
            <p:nvSpPr>
              <p:cNvPr id="133" name="Text Box 129">
                <a:extLst>
                  <a:ext uri="{FF2B5EF4-FFF2-40B4-BE49-F238E27FC236}">
                    <a16:creationId xmlns:a16="http://schemas.microsoft.com/office/drawing/2014/main" id="{65479EED-7043-472C-A925-C0B78C0C64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625832" y="110314740"/>
                <a:ext cx="5118735" cy="377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Samuel Teplov				Gaurav Deshpande				Alon Peer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Text Box 130">
                <a:extLst>
                  <a:ext uri="{FF2B5EF4-FFF2-40B4-BE49-F238E27FC236}">
                    <a16:creationId xmlns:a16="http://schemas.microsoft.com/office/drawing/2014/main" id="{819A4E5D-0BEE-4FA9-9BBB-4DB1EA0BF1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625832" y="109678470"/>
                <a:ext cx="5118735" cy="636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7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A Systematic Approach to Analyzing Syndication of Viral News Stories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35" name="Group 131">
            <a:extLst>
              <a:ext uri="{FF2B5EF4-FFF2-40B4-BE49-F238E27FC236}">
                <a16:creationId xmlns:a16="http://schemas.microsoft.com/office/drawing/2014/main" id="{087AD1D8-9454-4456-BC5E-01300AAE5FCE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2722563"/>
            <a:ext cx="8472487" cy="6781800"/>
            <a:chOff x="108973620" y="109117180"/>
            <a:chExt cx="2423160" cy="2136039"/>
          </a:xfrm>
        </p:grpSpPr>
        <p:sp>
          <p:nvSpPr>
            <p:cNvPr id="136" name="Rectangle 132" hidden="1">
              <a:extLst>
                <a:ext uri="{FF2B5EF4-FFF2-40B4-BE49-F238E27FC236}">
                  <a16:creationId xmlns:a16="http://schemas.microsoft.com/office/drawing/2014/main" id="{0661074E-8232-4E15-99A9-2F5B17A40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37" name="Group 133">
              <a:extLst>
                <a:ext uri="{FF2B5EF4-FFF2-40B4-BE49-F238E27FC236}">
                  <a16:creationId xmlns:a16="http://schemas.microsoft.com/office/drawing/2014/main" id="{A18A9AAA-2A80-4C3B-97FC-3419EC6FCC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38" name="Text Box 134">
                <a:extLst>
                  <a:ext uri="{FF2B5EF4-FFF2-40B4-BE49-F238E27FC236}">
                    <a16:creationId xmlns:a16="http://schemas.microsoft.com/office/drawing/2014/main" id="{2DB47191-C3EC-4C2C-8F60-A1A77D386A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82205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Text Box 135">
                <a:extLst>
                  <a:ext uri="{FF2B5EF4-FFF2-40B4-BE49-F238E27FC236}">
                    <a16:creationId xmlns:a16="http://schemas.microsoft.com/office/drawing/2014/main" id="{C1F16795-C758-49CE-9B95-48CC212D55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0" b="0" i="0" u="none" strike="noStrike" cap="none" normalizeH="0" baseline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Problem Statement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40" name="Group 136">
            <a:extLst>
              <a:ext uri="{FF2B5EF4-FFF2-40B4-BE49-F238E27FC236}">
                <a16:creationId xmlns:a16="http://schemas.microsoft.com/office/drawing/2014/main" id="{4D684B47-3A0D-4E04-B022-843E9C077B6A}"/>
              </a:ext>
            </a:extLst>
          </p:cNvPr>
          <p:cNvGrpSpPr>
            <a:grpSpLocks/>
          </p:cNvGrpSpPr>
          <p:nvPr/>
        </p:nvGrpSpPr>
        <p:grpSpPr bwMode="auto">
          <a:xfrm>
            <a:off x="103188" y="8072437"/>
            <a:ext cx="8407400" cy="7340600"/>
            <a:chOff x="108973620" y="109117180"/>
            <a:chExt cx="2423160" cy="2136039"/>
          </a:xfrm>
        </p:grpSpPr>
        <p:sp>
          <p:nvSpPr>
            <p:cNvPr id="141" name="Rectangle 137" hidden="1">
              <a:extLst>
                <a:ext uri="{FF2B5EF4-FFF2-40B4-BE49-F238E27FC236}">
                  <a16:creationId xmlns:a16="http://schemas.microsoft.com/office/drawing/2014/main" id="{8E40B131-8EC3-46E1-8045-E418FB525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2" name="Group 138">
              <a:extLst>
                <a:ext uri="{FF2B5EF4-FFF2-40B4-BE49-F238E27FC236}">
                  <a16:creationId xmlns:a16="http://schemas.microsoft.com/office/drawing/2014/main" id="{8647B381-6782-4131-BCA7-2F66DDE60F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43" name="Text Box 139">
                <a:extLst>
                  <a:ext uri="{FF2B5EF4-FFF2-40B4-BE49-F238E27FC236}">
                    <a16:creationId xmlns:a16="http://schemas.microsoft.com/office/drawing/2014/main" id="{A392BBBF-1079-45B2-B98F-8EA8FDC0F7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82205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4" name="Text Box 140">
                <a:extLst>
                  <a:ext uri="{FF2B5EF4-FFF2-40B4-BE49-F238E27FC236}">
                    <a16:creationId xmlns:a16="http://schemas.microsoft.com/office/drawing/2014/main" id="{A060ECB2-69F8-4CC0-B775-A2E920268F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400" b="0" i="0" u="none" strike="noStrike" cap="none" normalizeH="0" baseline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Objective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45" name="Group 141">
            <a:extLst>
              <a:ext uri="{FF2B5EF4-FFF2-40B4-BE49-F238E27FC236}">
                <a16:creationId xmlns:a16="http://schemas.microsoft.com/office/drawing/2014/main" id="{0D627BD7-FACF-4937-B458-1C2E8A47D7A3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17505363"/>
            <a:ext cx="8472487" cy="5892800"/>
            <a:chOff x="108973620" y="109117180"/>
            <a:chExt cx="2423160" cy="2136039"/>
          </a:xfrm>
        </p:grpSpPr>
        <p:sp>
          <p:nvSpPr>
            <p:cNvPr id="146" name="Rectangle 142" hidden="1">
              <a:extLst>
                <a:ext uri="{FF2B5EF4-FFF2-40B4-BE49-F238E27FC236}">
                  <a16:creationId xmlns:a16="http://schemas.microsoft.com/office/drawing/2014/main" id="{9FD7B006-5964-43B5-A350-C2A1EC46C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7" name="Group 143">
              <a:extLst>
                <a:ext uri="{FF2B5EF4-FFF2-40B4-BE49-F238E27FC236}">
                  <a16:creationId xmlns:a16="http://schemas.microsoft.com/office/drawing/2014/main" id="{2EB7EA0A-D517-490D-B6CD-C27B311D1E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48" name="Text Box 144">
                <a:extLst>
                  <a:ext uri="{FF2B5EF4-FFF2-40B4-BE49-F238E27FC236}">
                    <a16:creationId xmlns:a16="http://schemas.microsoft.com/office/drawing/2014/main" id="{A3DE12F6-E1A1-4769-B73C-4BC62F1F08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82205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Text Box 145">
                <a:extLst>
                  <a:ext uri="{FF2B5EF4-FFF2-40B4-BE49-F238E27FC236}">
                    <a16:creationId xmlns:a16="http://schemas.microsoft.com/office/drawing/2014/main" id="{0CD4D2FC-8F82-4FF2-8BC6-D908D0B6E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200" b="0" i="0" u="none" strike="noStrike" cap="none" normalizeH="0" baseline="0" dirty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Background 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50" name="Group 146">
            <a:extLst>
              <a:ext uri="{FF2B5EF4-FFF2-40B4-BE49-F238E27FC236}">
                <a16:creationId xmlns:a16="http://schemas.microsoft.com/office/drawing/2014/main" id="{6AD4616A-E3F7-461F-800D-40E14D1123AE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23398163"/>
            <a:ext cx="8407400" cy="7440612"/>
            <a:chOff x="108973620" y="109117180"/>
            <a:chExt cx="2423160" cy="2136039"/>
          </a:xfrm>
        </p:grpSpPr>
        <p:sp>
          <p:nvSpPr>
            <p:cNvPr id="151" name="Rectangle 147" hidden="1">
              <a:extLst>
                <a:ext uri="{FF2B5EF4-FFF2-40B4-BE49-F238E27FC236}">
                  <a16:creationId xmlns:a16="http://schemas.microsoft.com/office/drawing/2014/main" id="{2C9066FC-78D1-4054-A070-10BD55447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52" name="Group 148">
              <a:extLst>
                <a:ext uri="{FF2B5EF4-FFF2-40B4-BE49-F238E27FC236}">
                  <a16:creationId xmlns:a16="http://schemas.microsoft.com/office/drawing/2014/main" id="{6A741BE6-B988-4D27-AADC-4127364F3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53" name="Text Box 149">
                <a:extLst>
                  <a:ext uri="{FF2B5EF4-FFF2-40B4-BE49-F238E27FC236}">
                    <a16:creationId xmlns:a16="http://schemas.microsoft.com/office/drawing/2014/main" id="{35A3461E-5419-4319-9B55-644101D6EA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82205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Text Box 150">
                <a:extLst>
                  <a:ext uri="{FF2B5EF4-FFF2-40B4-BE49-F238E27FC236}">
                    <a16:creationId xmlns:a16="http://schemas.microsoft.com/office/drawing/2014/main" id="{920FA195-1078-40FB-855F-C0EAA01D59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600" b="0" i="0" u="none" strike="noStrike" cap="none" normalizeH="0" baseline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Future Work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55" name="Group 151">
            <a:extLst>
              <a:ext uri="{FF2B5EF4-FFF2-40B4-BE49-F238E27FC236}">
                <a16:creationId xmlns:a16="http://schemas.microsoft.com/office/drawing/2014/main" id="{388BE5B0-5981-4D7C-9F53-B148C6DB69EC}"/>
              </a:ext>
            </a:extLst>
          </p:cNvPr>
          <p:cNvGrpSpPr>
            <a:grpSpLocks/>
          </p:cNvGrpSpPr>
          <p:nvPr/>
        </p:nvGrpSpPr>
        <p:grpSpPr bwMode="auto">
          <a:xfrm>
            <a:off x="26309638" y="2722563"/>
            <a:ext cx="16827500" cy="6781800"/>
            <a:chOff x="108973620" y="109117180"/>
            <a:chExt cx="2423160" cy="2136039"/>
          </a:xfrm>
        </p:grpSpPr>
        <p:sp>
          <p:nvSpPr>
            <p:cNvPr id="156" name="Rectangle 152" hidden="1">
              <a:extLst>
                <a:ext uri="{FF2B5EF4-FFF2-40B4-BE49-F238E27FC236}">
                  <a16:creationId xmlns:a16="http://schemas.microsoft.com/office/drawing/2014/main" id="{6EBED56E-40B9-4933-8FEB-1DD982549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57" name="Group 153">
              <a:extLst>
                <a:ext uri="{FF2B5EF4-FFF2-40B4-BE49-F238E27FC236}">
                  <a16:creationId xmlns:a16="http://schemas.microsoft.com/office/drawing/2014/main" id="{60C0E6F0-D39F-401F-BFF3-45E8D7FA24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58" name="Text Box 154">
                <a:extLst>
                  <a:ext uri="{FF2B5EF4-FFF2-40B4-BE49-F238E27FC236}">
                    <a16:creationId xmlns:a16="http://schemas.microsoft.com/office/drawing/2014/main" id="{7495B5B6-A7DE-4B28-AD96-5DDAE48075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82205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Text Box 155">
                <a:extLst>
                  <a:ext uri="{FF2B5EF4-FFF2-40B4-BE49-F238E27FC236}">
                    <a16:creationId xmlns:a16="http://schemas.microsoft.com/office/drawing/2014/main" id="{5BE0EE09-6451-4788-98B6-6089D63A8A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0" b="0" i="0" u="none" strike="noStrike" cap="none" normalizeH="0" baseline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Conclusion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60" name="Group 156">
            <a:extLst>
              <a:ext uri="{FF2B5EF4-FFF2-40B4-BE49-F238E27FC236}">
                <a16:creationId xmlns:a16="http://schemas.microsoft.com/office/drawing/2014/main" id="{92C7A26E-8DF5-43CD-8935-CB04672CC761}"/>
              </a:ext>
            </a:extLst>
          </p:cNvPr>
          <p:cNvGrpSpPr>
            <a:grpSpLocks/>
          </p:cNvGrpSpPr>
          <p:nvPr/>
        </p:nvGrpSpPr>
        <p:grpSpPr bwMode="auto">
          <a:xfrm>
            <a:off x="8825512" y="2722563"/>
            <a:ext cx="17616488" cy="6781800"/>
            <a:chOff x="108973620" y="109117180"/>
            <a:chExt cx="2423160" cy="2136039"/>
          </a:xfrm>
        </p:grpSpPr>
        <p:sp>
          <p:nvSpPr>
            <p:cNvPr id="161" name="Rectangle 157" hidden="1">
              <a:extLst>
                <a:ext uri="{FF2B5EF4-FFF2-40B4-BE49-F238E27FC236}">
                  <a16:creationId xmlns:a16="http://schemas.microsoft.com/office/drawing/2014/main" id="{4862E121-208A-48D6-B9D0-E11605273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73620" y="109117180"/>
              <a:ext cx="2423160" cy="21360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62" name="Group 158">
              <a:extLst>
                <a:ext uri="{FF2B5EF4-FFF2-40B4-BE49-F238E27FC236}">
                  <a16:creationId xmlns:a16="http://schemas.microsoft.com/office/drawing/2014/main" id="{1B6E221B-BD72-449E-AA42-B6D410685D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73620" y="109117180"/>
              <a:ext cx="2423160" cy="2136039"/>
              <a:chOff x="108973620" y="109117180"/>
              <a:chExt cx="2423160" cy="2136039"/>
            </a:xfrm>
          </p:grpSpPr>
          <p:sp>
            <p:nvSpPr>
              <p:cNvPr id="163" name="Text Box 159">
                <a:extLst>
                  <a:ext uri="{FF2B5EF4-FFF2-40B4-BE49-F238E27FC236}">
                    <a16:creationId xmlns:a16="http://schemas.microsoft.com/office/drawing/2014/main" id="{00F0EDD0-A580-4BB8-B3A4-43DCB92678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109049" y="109538719"/>
                <a:ext cx="2240280" cy="1714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This is a good place to briefly, but effectively, describe your product or services. </a:t>
                </a:r>
                <a:endParaRPr kumimoji="0" lang="en-US" alt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Text Box 160">
                <a:extLst>
                  <a:ext uri="{FF2B5EF4-FFF2-40B4-BE49-F238E27FC236}">
                    <a16:creationId xmlns:a16="http://schemas.microsoft.com/office/drawing/2014/main" id="{DDE6C9A7-0975-4D56-9BCA-30A199619F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73620" y="109117180"/>
                <a:ext cx="2423160" cy="302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100" b="0" i="0" u="none" strike="noStrike" cap="none" normalizeH="0" baseline="0">
                    <a:ln>
                      <a:noFill/>
                    </a:ln>
                    <a:solidFill>
                      <a:srgbClr val="292929"/>
                    </a:solidFill>
                    <a:effectLst/>
                    <a:latin typeface="Cambria" panose="02040503050406030204" pitchFamily="18" charset="0"/>
                  </a:rPr>
                  <a:t>Criteria and methodology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65" name="Rectangle 161" hidden="1">
            <a:extLst>
              <a:ext uri="{FF2B5EF4-FFF2-40B4-BE49-F238E27FC236}">
                <a16:creationId xmlns:a16="http://schemas.microsoft.com/office/drawing/2014/main" id="{94F4023A-E688-4FB5-B35D-EACF53708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7738" y="9504363"/>
            <a:ext cx="34569400" cy="213344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66" name="Group 162">
            <a:extLst>
              <a:ext uri="{FF2B5EF4-FFF2-40B4-BE49-F238E27FC236}">
                <a16:creationId xmlns:a16="http://schemas.microsoft.com/office/drawing/2014/main" id="{46CE1C2C-7EA9-4985-9355-BE1FCD851F24}"/>
              </a:ext>
            </a:extLst>
          </p:cNvPr>
          <p:cNvGrpSpPr>
            <a:grpSpLocks/>
          </p:cNvGrpSpPr>
          <p:nvPr/>
        </p:nvGrpSpPr>
        <p:grpSpPr bwMode="auto">
          <a:xfrm>
            <a:off x="8567738" y="9504363"/>
            <a:ext cx="34569400" cy="21334412"/>
            <a:chOff x="108973620" y="109117180"/>
            <a:chExt cx="2423160" cy="2136039"/>
          </a:xfrm>
        </p:grpSpPr>
        <p:sp>
          <p:nvSpPr>
            <p:cNvPr id="167" name="Text Box 163">
              <a:extLst>
                <a:ext uri="{FF2B5EF4-FFF2-40B4-BE49-F238E27FC236}">
                  <a16:creationId xmlns:a16="http://schemas.microsoft.com/office/drawing/2014/main" id="{4BD5EB5D-0887-4F28-8E18-F290B825B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082205" y="109538719"/>
              <a:ext cx="2240280" cy="1714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FFC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This is a good place to briefly, but effectively, describe your product or services.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8" name="Text Box 164">
              <a:extLst>
                <a:ext uri="{FF2B5EF4-FFF2-40B4-BE49-F238E27FC236}">
                  <a16:creationId xmlns:a16="http://schemas.microsoft.com/office/drawing/2014/main" id="{68891E42-BDB6-4EC0-B00C-CE619930C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73620" y="109117180"/>
              <a:ext cx="2423160" cy="3028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FFC000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9000" b="0" i="0" u="none" strike="noStrike" cap="none" normalizeH="0" baseline="0" dirty="0">
                  <a:ln>
                    <a:noFill/>
                  </a:ln>
                  <a:solidFill>
                    <a:srgbClr val="292929"/>
                  </a:solidFill>
                  <a:effectLst/>
                  <a:latin typeface="Cambria" panose="02040503050406030204" pitchFamily="18" charset="0"/>
                </a:rPr>
                <a:t>Analysis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69" name="Group 165">
            <a:extLst>
              <a:ext uri="{FF2B5EF4-FFF2-40B4-BE49-F238E27FC236}">
                <a16:creationId xmlns:a16="http://schemas.microsoft.com/office/drawing/2014/main" id="{D005A383-99C6-4883-B3C4-E3032067F1EB}"/>
              </a:ext>
            </a:extLst>
          </p:cNvPr>
          <p:cNvGrpSpPr>
            <a:grpSpLocks/>
          </p:cNvGrpSpPr>
          <p:nvPr/>
        </p:nvGrpSpPr>
        <p:grpSpPr bwMode="auto">
          <a:xfrm>
            <a:off x="160338" y="30838775"/>
            <a:ext cx="42986325" cy="1271588"/>
            <a:chOff x="109185075" y="109070775"/>
            <a:chExt cx="2000250" cy="2228850"/>
          </a:xfrm>
        </p:grpSpPr>
        <p:sp>
          <p:nvSpPr>
            <p:cNvPr id="170" name="Rectangle 166" hidden="1">
              <a:extLst>
                <a:ext uri="{FF2B5EF4-FFF2-40B4-BE49-F238E27FC236}">
                  <a16:creationId xmlns:a16="http://schemas.microsoft.com/office/drawing/2014/main" id="{5D094484-FA35-4063-89BF-4A378607E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85075" y="109070775"/>
              <a:ext cx="2000250" cy="2228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71" name="Group 167">
              <a:extLst>
                <a:ext uri="{FF2B5EF4-FFF2-40B4-BE49-F238E27FC236}">
                  <a16:creationId xmlns:a16="http://schemas.microsoft.com/office/drawing/2014/main" id="{E79E08F3-457A-4D7B-BC8D-E79D7D737A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185075" y="109070775"/>
              <a:ext cx="2000250" cy="2228850"/>
              <a:chOff x="109185075" y="109070775"/>
              <a:chExt cx="2000250" cy="2228850"/>
            </a:xfrm>
          </p:grpSpPr>
          <p:sp>
            <p:nvSpPr>
              <p:cNvPr id="172" name="Rectangle 168">
                <a:extLst>
                  <a:ext uri="{FF2B5EF4-FFF2-40B4-BE49-F238E27FC236}">
                    <a16:creationId xmlns:a16="http://schemas.microsoft.com/office/drawing/2014/main" id="{67F0EF24-504C-4348-A43D-6226D2CC9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185075" y="109070775"/>
                <a:ext cx="2000250" cy="2228850"/>
              </a:xfrm>
              <a:prstGeom prst="rect">
                <a:avLst/>
              </a:prstGeom>
              <a:noFill/>
              <a:ln w="9525" algn="in">
                <a:solidFill>
                  <a:srgbClr val="ED7D3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D7D3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Text Box 169">
                <a:extLst>
                  <a:ext uri="{FF2B5EF4-FFF2-40B4-BE49-F238E27FC236}">
                    <a16:creationId xmlns:a16="http://schemas.microsoft.com/office/drawing/2014/main" id="{E46ABFF5-AC2B-4544-8E9D-37B2E10D26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356525" y="109242225"/>
                <a:ext cx="1657350" cy="18859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in">
                    <a:solidFill>
                      <a:srgbClr val="FFC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C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8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CITATIONS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: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1. </a:t>
                </a:r>
                <a:b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</a:b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2.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3.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4.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5.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6.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7.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8.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9.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10.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11.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12.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0701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Words>398</Words>
  <Application>Microsoft Macintosh PowerPoint</Application>
  <PresentationFormat>Custom</PresentationFormat>
  <Paragraphs>80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METHODOLOGY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Deshpande</dc:creator>
  <cp:lastModifiedBy>Samuel Teplov</cp:lastModifiedBy>
  <cp:revision>19</cp:revision>
  <dcterms:created xsi:type="dcterms:W3CDTF">2019-11-29T16:53:25Z</dcterms:created>
  <dcterms:modified xsi:type="dcterms:W3CDTF">2019-12-02T16:57:20Z</dcterms:modified>
</cp:coreProperties>
</file>