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6"/>
  </p:notesMasterIdLst>
  <p:sldIdLst>
    <p:sldId id="258" r:id="rId2"/>
    <p:sldId id="259" r:id="rId3"/>
    <p:sldId id="256" r:id="rId4"/>
    <p:sldId id="257" r:id="rId5"/>
  </p:sldIdLst>
  <p:sldSz cx="43891200" cy="329184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8" autoAdjust="0"/>
    <p:restoredTop sz="94660"/>
  </p:normalViewPr>
  <p:slideViewPr>
    <p:cSldViewPr snapToGrid="0">
      <p:cViewPr>
        <p:scale>
          <a:sx n="27" d="100"/>
          <a:sy n="27" d="100"/>
        </p:scale>
        <p:origin x="1224" y="-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4F2AB0-DD4A-184B-9DCF-430CD49425A1}" type="datetimeFigureOut">
              <a:rPr lang="en-US" smtClean="0"/>
              <a:t>11/29/19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33914-D2E4-6C46-8976-4DCC511A5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5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176A7-A103-4600-9111-6BB9AD7DCF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0" y="5387342"/>
            <a:ext cx="32918400" cy="11460480"/>
          </a:xfrm>
        </p:spPr>
        <p:txBody>
          <a:bodyPr anchor="b"/>
          <a:lstStyle>
            <a:lvl1pPr algn="ctr">
              <a:defRPr sz="21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173A6E-EE7A-4B9C-877E-BDFCBCFEE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8640"/>
            </a:lvl1pPr>
            <a:lvl2pPr marL="1645920" indent="0" algn="ctr">
              <a:buNone/>
              <a:defRPr sz="7200"/>
            </a:lvl2pPr>
            <a:lvl3pPr marL="3291840" indent="0" algn="ctr">
              <a:buNone/>
              <a:defRPr sz="6480"/>
            </a:lvl3pPr>
            <a:lvl4pPr marL="4937760" indent="0" algn="ctr">
              <a:buNone/>
              <a:defRPr sz="5760"/>
            </a:lvl4pPr>
            <a:lvl5pPr marL="6583680" indent="0" algn="ctr">
              <a:buNone/>
              <a:defRPr sz="5760"/>
            </a:lvl5pPr>
            <a:lvl6pPr marL="8229600" indent="0" algn="ctr">
              <a:buNone/>
              <a:defRPr sz="5760"/>
            </a:lvl6pPr>
            <a:lvl7pPr marL="9875520" indent="0" algn="ctr">
              <a:buNone/>
              <a:defRPr sz="5760"/>
            </a:lvl7pPr>
            <a:lvl8pPr marL="11521440" indent="0" algn="ctr">
              <a:buNone/>
              <a:defRPr sz="5760"/>
            </a:lvl8pPr>
            <a:lvl9pPr marL="13167360" indent="0" algn="ctr">
              <a:buNone/>
              <a:defRPr sz="576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B64F8C-5614-4FDE-9A44-B49BE31DE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11/29/19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1C110-2C0B-4262-AE6C-58CD5775A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55819-A818-47F7-9BD0-F105D2701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741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A050F-0D80-44A6-ACCB-57D9E84E4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020BE-AA82-4F16-98C3-207CC64A6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816BB-287C-4FB3-87B9-DBB62588C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11/29/19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79E518-101C-4120-BCD8-8103D46BD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C4AD9-F5F4-420F-A968-69D7C913D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471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4907F-4614-480D-8AFB-B5F703743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4660" y="8206745"/>
            <a:ext cx="37856160" cy="13693138"/>
          </a:xfrm>
        </p:spPr>
        <p:txBody>
          <a:bodyPr anchor="b"/>
          <a:lstStyle>
            <a:lvl1pPr>
              <a:defRPr sz="21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A66CE2-5A9F-4BD4-9347-6A54466538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94660" y="22029425"/>
            <a:ext cx="37856160" cy="7200898"/>
          </a:xfrm>
        </p:spPr>
        <p:txBody>
          <a:bodyPr/>
          <a:lstStyle>
            <a:lvl1pPr marL="0" indent="0">
              <a:buNone/>
              <a:defRPr sz="8640">
                <a:solidFill>
                  <a:schemeClr val="tx1">
                    <a:tint val="75000"/>
                  </a:schemeClr>
                </a:solidFill>
              </a:defRPr>
            </a:lvl1pPr>
            <a:lvl2pPr marL="1645920" indent="0">
              <a:buNone/>
              <a:defRPr sz="7200">
                <a:solidFill>
                  <a:schemeClr val="tx1">
                    <a:tint val="75000"/>
                  </a:schemeClr>
                </a:solidFill>
              </a:defRPr>
            </a:lvl2pPr>
            <a:lvl3pPr marL="3291840" indent="0">
              <a:buNone/>
              <a:defRPr sz="6480">
                <a:solidFill>
                  <a:schemeClr val="tx1">
                    <a:tint val="75000"/>
                  </a:schemeClr>
                </a:solidFill>
              </a:defRPr>
            </a:lvl3pPr>
            <a:lvl4pPr marL="4937760" indent="0">
              <a:buNone/>
              <a:defRPr sz="5760">
                <a:solidFill>
                  <a:schemeClr val="tx1">
                    <a:tint val="75000"/>
                  </a:schemeClr>
                </a:solidFill>
              </a:defRPr>
            </a:lvl4pPr>
            <a:lvl5pPr marL="6583680" indent="0">
              <a:buNone/>
              <a:defRPr sz="5760">
                <a:solidFill>
                  <a:schemeClr val="tx1">
                    <a:tint val="75000"/>
                  </a:schemeClr>
                </a:solidFill>
              </a:defRPr>
            </a:lvl5pPr>
            <a:lvl6pPr marL="8229600" indent="0">
              <a:buNone/>
              <a:defRPr sz="5760">
                <a:solidFill>
                  <a:schemeClr val="tx1">
                    <a:tint val="75000"/>
                  </a:schemeClr>
                </a:solidFill>
              </a:defRPr>
            </a:lvl6pPr>
            <a:lvl7pPr marL="9875520" indent="0">
              <a:buNone/>
              <a:defRPr sz="5760">
                <a:solidFill>
                  <a:schemeClr val="tx1">
                    <a:tint val="75000"/>
                  </a:schemeClr>
                </a:solidFill>
              </a:defRPr>
            </a:lvl7pPr>
            <a:lvl8pPr marL="11521440" indent="0">
              <a:buNone/>
              <a:defRPr sz="5760">
                <a:solidFill>
                  <a:schemeClr val="tx1">
                    <a:tint val="75000"/>
                  </a:schemeClr>
                </a:solidFill>
              </a:defRPr>
            </a:lvl8pPr>
            <a:lvl9pPr marL="13167360" indent="0">
              <a:buNone/>
              <a:defRPr sz="5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D84066-996B-4EBC-91A4-39CAB02E6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11/29/19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D98E8-A97A-4A91-A186-E898C278D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193AAF-8606-4882-98A2-443FE8719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9802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2C970-7469-4372-854A-520A856E3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6EBAC-FE4D-4628-9646-DBBD9515E5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C68B3C-F8FC-4D1A-A299-6CA7906FFF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E62F5D-F1F3-4917-A27B-E6F15F2C8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11/29/19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639D0-94C7-413D-A628-2CD8D8203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104CFD-A8EA-4366-A6C1-10181F59E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865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6EB0E-F24A-4B68-B5FC-BA87C2AC6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3237" y="1752603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DF3DE6-F5F3-4652-AE58-3FC590B848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23239" y="8069582"/>
            <a:ext cx="18568033" cy="3954778"/>
          </a:xfrm>
        </p:spPr>
        <p:txBody>
          <a:bodyPr anchor="b"/>
          <a:lstStyle>
            <a:lvl1pPr marL="0" indent="0">
              <a:buNone/>
              <a:defRPr sz="8640" b="1"/>
            </a:lvl1pPr>
            <a:lvl2pPr marL="1645920" indent="0">
              <a:buNone/>
              <a:defRPr sz="7200" b="1"/>
            </a:lvl2pPr>
            <a:lvl3pPr marL="3291840" indent="0">
              <a:buNone/>
              <a:defRPr sz="6480" b="1"/>
            </a:lvl3pPr>
            <a:lvl4pPr marL="4937760" indent="0">
              <a:buNone/>
              <a:defRPr sz="5760" b="1"/>
            </a:lvl4pPr>
            <a:lvl5pPr marL="6583680" indent="0">
              <a:buNone/>
              <a:defRPr sz="5760" b="1"/>
            </a:lvl5pPr>
            <a:lvl6pPr marL="8229600" indent="0">
              <a:buNone/>
              <a:defRPr sz="5760" b="1"/>
            </a:lvl6pPr>
            <a:lvl7pPr marL="9875520" indent="0">
              <a:buNone/>
              <a:defRPr sz="5760" b="1"/>
            </a:lvl7pPr>
            <a:lvl8pPr marL="11521440" indent="0">
              <a:buNone/>
              <a:defRPr sz="5760" b="1"/>
            </a:lvl8pPr>
            <a:lvl9pPr marL="13167360" indent="0">
              <a:buNone/>
              <a:defRPr sz="5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15AFE4-5CF0-457C-BECD-5E15DE1117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023239" y="12024360"/>
            <a:ext cx="18568033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FCE780-382D-4AC4-95C9-5D783F646D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2219920" y="8069582"/>
            <a:ext cx="18659477" cy="3954778"/>
          </a:xfrm>
        </p:spPr>
        <p:txBody>
          <a:bodyPr anchor="b"/>
          <a:lstStyle>
            <a:lvl1pPr marL="0" indent="0">
              <a:buNone/>
              <a:defRPr sz="8640" b="1"/>
            </a:lvl1pPr>
            <a:lvl2pPr marL="1645920" indent="0">
              <a:buNone/>
              <a:defRPr sz="7200" b="1"/>
            </a:lvl2pPr>
            <a:lvl3pPr marL="3291840" indent="0">
              <a:buNone/>
              <a:defRPr sz="6480" b="1"/>
            </a:lvl3pPr>
            <a:lvl4pPr marL="4937760" indent="0">
              <a:buNone/>
              <a:defRPr sz="5760" b="1"/>
            </a:lvl4pPr>
            <a:lvl5pPr marL="6583680" indent="0">
              <a:buNone/>
              <a:defRPr sz="5760" b="1"/>
            </a:lvl5pPr>
            <a:lvl6pPr marL="8229600" indent="0">
              <a:buNone/>
              <a:defRPr sz="5760" b="1"/>
            </a:lvl6pPr>
            <a:lvl7pPr marL="9875520" indent="0">
              <a:buNone/>
              <a:defRPr sz="5760" b="1"/>
            </a:lvl7pPr>
            <a:lvl8pPr marL="11521440" indent="0">
              <a:buNone/>
              <a:defRPr sz="5760" b="1"/>
            </a:lvl8pPr>
            <a:lvl9pPr marL="13167360" indent="0">
              <a:buNone/>
              <a:defRPr sz="5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1012F-7649-4928-94F8-450A21E92B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2219920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E0A727-F86B-48F1-8715-C1440CF64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11/29/19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D02D69-0D30-4479-8FC7-CE4F80712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3894E8-2AEB-4706-991B-3DBB5D301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64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27561-E30A-4E64-BBFB-C5FC9600D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B438B4-EF49-404F-9837-A9CB6FC79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11/29/19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84B149-729E-4DD4-B6B9-C840FDAF4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C8A292-C062-4F79-BC20-EBD4D23D8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026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5C76D6-ADCF-4152-8671-E16559813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11/29/19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992BD9-9022-4B89-87DC-0BF808EFD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1389D7-71CD-435E-A4D9-629B3499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2225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96B5E-10CB-490B-8563-A3FCA641D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3239" y="2194560"/>
            <a:ext cx="14156053" cy="7680960"/>
          </a:xfrm>
        </p:spPr>
        <p:txBody>
          <a:bodyPr anchor="b"/>
          <a:lstStyle>
            <a:lvl1pPr>
              <a:defRPr sz="1152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F4C4A-8057-4F2A-8017-FE2B451E8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659477" y="4739642"/>
            <a:ext cx="22219920" cy="23393400"/>
          </a:xfrm>
        </p:spPr>
        <p:txBody>
          <a:bodyPr/>
          <a:lstStyle>
            <a:lvl1pPr>
              <a:defRPr sz="11520"/>
            </a:lvl1pPr>
            <a:lvl2pPr>
              <a:defRPr sz="10080"/>
            </a:lvl2pPr>
            <a:lvl3pPr>
              <a:defRPr sz="8640"/>
            </a:lvl3pPr>
            <a:lvl4pPr>
              <a:defRPr sz="7200"/>
            </a:lvl4pPr>
            <a:lvl5pPr>
              <a:defRPr sz="7200"/>
            </a:lvl5pPr>
            <a:lvl6pPr>
              <a:defRPr sz="7200"/>
            </a:lvl6pPr>
            <a:lvl7pPr>
              <a:defRPr sz="7200"/>
            </a:lvl7pPr>
            <a:lvl8pPr>
              <a:defRPr sz="7200"/>
            </a:lvl8pPr>
            <a:lvl9pPr>
              <a:defRPr sz="7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60B2EE-6243-4DE0-ABF1-8575D73364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23239" y="9875520"/>
            <a:ext cx="14156053" cy="18295622"/>
          </a:xfrm>
        </p:spPr>
        <p:txBody>
          <a:bodyPr/>
          <a:lstStyle>
            <a:lvl1pPr marL="0" indent="0">
              <a:buNone/>
              <a:defRPr sz="5760"/>
            </a:lvl1pPr>
            <a:lvl2pPr marL="1645920" indent="0">
              <a:buNone/>
              <a:defRPr sz="5040"/>
            </a:lvl2pPr>
            <a:lvl3pPr marL="3291840" indent="0">
              <a:buNone/>
              <a:defRPr sz="4320"/>
            </a:lvl3pPr>
            <a:lvl4pPr marL="4937760" indent="0">
              <a:buNone/>
              <a:defRPr sz="3600"/>
            </a:lvl4pPr>
            <a:lvl5pPr marL="6583680" indent="0">
              <a:buNone/>
              <a:defRPr sz="3600"/>
            </a:lvl5pPr>
            <a:lvl6pPr marL="8229600" indent="0">
              <a:buNone/>
              <a:defRPr sz="3600"/>
            </a:lvl6pPr>
            <a:lvl7pPr marL="9875520" indent="0">
              <a:buNone/>
              <a:defRPr sz="3600"/>
            </a:lvl7pPr>
            <a:lvl8pPr marL="11521440" indent="0">
              <a:buNone/>
              <a:defRPr sz="3600"/>
            </a:lvl8pPr>
            <a:lvl9pPr marL="13167360" indent="0">
              <a:buNone/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CE44F5-D38D-4934-9A53-61D61D8C1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11/29/19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9F430D-EC09-405F-8C51-BF752FBF8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0E586C-2564-45D8-A00A-CE12D9047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427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109D0-C533-4E23-8B61-C16BE5F6C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3239" y="2194560"/>
            <a:ext cx="14156053" cy="7680960"/>
          </a:xfrm>
        </p:spPr>
        <p:txBody>
          <a:bodyPr anchor="b"/>
          <a:lstStyle>
            <a:lvl1pPr>
              <a:defRPr sz="1152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697992-6A77-4538-AC6E-05129BCA7E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8659477" y="4739642"/>
            <a:ext cx="22219920" cy="23393400"/>
          </a:xfrm>
        </p:spPr>
        <p:txBody>
          <a:bodyPr/>
          <a:lstStyle>
            <a:lvl1pPr marL="0" indent="0">
              <a:buNone/>
              <a:defRPr sz="11520"/>
            </a:lvl1pPr>
            <a:lvl2pPr marL="1645920" indent="0">
              <a:buNone/>
              <a:defRPr sz="10080"/>
            </a:lvl2pPr>
            <a:lvl3pPr marL="3291840" indent="0">
              <a:buNone/>
              <a:defRPr sz="8640"/>
            </a:lvl3pPr>
            <a:lvl4pPr marL="4937760" indent="0">
              <a:buNone/>
              <a:defRPr sz="7200"/>
            </a:lvl4pPr>
            <a:lvl5pPr marL="6583680" indent="0">
              <a:buNone/>
              <a:defRPr sz="7200"/>
            </a:lvl5pPr>
            <a:lvl6pPr marL="8229600" indent="0">
              <a:buNone/>
              <a:defRPr sz="7200"/>
            </a:lvl6pPr>
            <a:lvl7pPr marL="9875520" indent="0">
              <a:buNone/>
              <a:defRPr sz="7200"/>
            </a:lvl7pPr>
            <a:lvl8pPr marL="11521440" indent="0">
              <a:buNone/>
              <a:defRPr sz="7200"/>
            </a:lvl8pPr>
            <a:lvl9pPr marL="13167360" indent="0">
              <a:buNone/>
              <a:defRPr sz="72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48F0D2-1259-46E5-9F6D-8CF2ABB883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23239" y="9875520"/>
            <a:ext cx="14156053" cy="18295622"/>
          </a:xfrm>
        </p:spPr>
        <p:txBody>
          <a:bodyPr/>
          <a:lstStyle>
            <a:lvl1pPr marL="0" indent="0">
              <a:buNone/>
              <a:defRPr sz="5760"/>
            </a:lvl1pPr>
            <a:lvl2pPr marL="1645920" indent="0">
              <a:buNone/>
              <a:defRPr sz="5040"/>
            </a:lvl2pPr>
            <a:lvl3pPr marL="3291840" indent="0">
              <a:buNone/>
              <a:defRPr sz="4320"/>
            </a:lvl3pPr>
            <a:lvl4pPr marL="4937760" indent="0">
              <a:buNone/>
              <a:defRPr sz="3600"/>
            </a:lvl4pPr>
            <a:lvl5pPr marL="6583680" indent="0">
              <a:buNone/>
              <a:defRPr sz="3600"/>
            </a:lvl5pPr>
            <a:lvl6pPr marL="8229600" indent="0">
              <a:buNone/>
              <a:defRPr sz="3600"/>
            </a:lvl6pPr>
            <a:lvl7pPr marL="9875520" indent="0">
              <a:buNone/>
              <a:defRPr sz="3600"/>
            </a:lvl7pPr>
            <a:lvl8pPr marL="11521440" indent="0">
              <a:buNone/>
              <a:defRPr sz="3600"/>
            </a:lvl8pPr>
            <a:lvl9pPr marL="13167360" indent="0">
              <a:buNone/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C1AB78-59B1-46D6-8712-3D0F2ED0F0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11/29/19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8FEC30-E2DC-4CD7-9AF8-24C4E3E5B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E49AE2-573A-4B63-BE9B-676BDC16E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635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F77D4-620C-4EC7-B708-58912047B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142CF5-9453-4FF3-AC8F-C0BA39EC98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E4BA5-4E22-47EE-A31A-75A13F9E9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11/29/19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FC772F-7A70-4864-BBAB-9EF0B9D0F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4E4A64-71F2-4AF1-92DD-1AC2ABB47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328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DFE824-E80A-46A9-8690-A435D877DE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1409640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DDFF03-91A1-4658-82A8-B32AF93534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017520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D3087-3D94-44E9-AA73-2A9B40684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11/29/19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1E21F0-7EF4-454A-95E8-38044878D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45125C-01E4-4961-B2F5-69F1DE41F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510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840FD1-F484-4DBA-A78F-652BE4529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0" y="1752603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5387EC-E7EC-4418-BCBB-71510C692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3DFF37-8A23-4108-BB18-231BEF8E98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17520" y="30510482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5B84BE-8907-4088-A091-8BB02B06D018}" type="datetimeFigureOut">
              <a:rPr lang="en-US" smtClean="0"/>
              <a:t>11/29/19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70183-08DF-43B8-A711-5CE8B5FF2B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38960" y="30510482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192D2-3A70-430C-A58A-92D3479092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0998160" y="30510482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408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291840" rtl="0" eaLnBrk="1" latinLnBrk="0" hangingPunct="1">
        <a:lnSpc>
          <a:spcPct val="90000"/>
        </a:lnSpc>
        <a:spcBef>
          <a:spcPct val="0"/>
        </a:spcBef>
        <a:buNone/>
        <a:defRPr sz="15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22960" indent="-822960" algn="l" defTabSz="3291840" rtl="0" eaLnBrk="1" latinLnBrk="0" hangingPunct="1">
        <a:lnSpc>
          <a:spcPct val="90000"/>
        </a:lnSpc>
        <a:spcBef>
          <a:spcPts val="36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1pPr>
      <a:lvl2pPr marL="24688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3pPr>
      <a:lvl4pPr marL="57607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740664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905256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106984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23444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2pPr>
      <a:lvl3pPr marL="32918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3pPr>
      <a:lvl4pPr marL="49377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98755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15214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130">
            <a:extLst>
              <a:ext uri="{FF2B5EF4-FFF2-40B4-BE49-F238E27FC236}">
                <a16:creationId xmlns:a16="http://schemas.microsoft.com/office/drawing/2014/main" id="{B8931247-BD65-5D41-99E0-43B21ED3DC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60362" y="495935"/>
            <a:ext cx="34841085" cy="33931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in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FFC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mbria" panose="02040503050406030204" pitchFamily="18" charset="0"/>
              </a:rPr>
              <a:t>A Systematic Approach to Analyzing Syndication of Viral News Stories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 Box 129">
            <a:extLst>
              <a:ext uri="{FF2B5EF4-FFF2-40B4-BE49-F238E27FC236}">
                <a16:creationId xmlns:a16="http://schemas.microsoft.com/office/drawing/2014/main" id="{17AC0FB7-46E4-A144-BFC0-75B662479D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3960393"/>
            <a:ext cx="42976800" cy="22823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in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FFC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7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mbria" panose="02040503050406030204" pitchFamily="18" charset="0"/>
              </a:rPr>
              <a:t>Samuel Teplov</a:t>
            </a:r>
            <a:r>
              <a:rPr lang="en-US" altLang="en-US" sz="7200" dirty="0">
                <a:solidFill>
                  <a:srgbClr val="000000"/>
                </a:solidFill>
                <a:latin typeface="Cambria" panose="02040503050406030204" pitchFamily="18" charset="0"/>
              </a:rPr>
              <a:t>, </a:t>
            </a:r>
            <a:r>
              <a:rPr kumimoji="0" lang="en-US" altLang="en-US" sz="7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mbria" panose="02040503050406030204" pitchFamily="18" charset="0"/>
              </a:rPr>
              <a:t>Gaurav Deshpande</a:t>
            </a:r>
            <a:r>
              <a:rPr lang="en-US" altLang="en-US" sz="7200" dirty="0">
                <a:solidFill>
                  <a:srgbClr val="000000"/>
                </a:solidFill>
                <a:latin typeface="Cambria" panose="02040503050406030204" pitchFamily="18" charset="0"/>
              </a:rPr>
              <a:t>, </a:t>
            </a:r>
            <a:r>
              <a:rPr kumimoji="0" lang="en-US" altLang="en-US" sz="7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mbria" panose="02040503050406030204" pitchFamily="18" charset="0"/>
              </a:rPr>
              <a:t>Alon Peer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7200" dirty="0">
                <a:solidFill>
                  <a:srgbClr val="000000"/>
                </a:solidFill>
                <a:latin typeface="Cambria" panose="02040503050406030204" pitchFamily="18" charset="0"/>
              </a:rPr>
              <a:t>Faculty Advisor: Dr. Nicolas Christin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316277-438D-3044-BD47-0984A42438AC}"/>
              </a:ext>
            </a:extLst>
          </p:cNvPr>
          <p:cNvSpPr txBox="1"/>
          <p:nvPr/>
        </p:nvSpPr>
        <p:spPr>
          <a:xfrm>
            <a:off x="457200" y="6260347"/>
            <a:ext cx="18026743" cy="74174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/>
              <a:t>Problem Statement</a:t>
            </a:r>
          </a:p>
          <a:p>
            <a:pPr marL="685800" indent="-685800" fontAlgn="base">
              <a:buFont typeface="Arial" panose="020B0604020202020204" pitchFamily="34" charset="0"/>
              <a:buChar char="•"/>
            </a:pPr>
            <a:r>
              <a:rPr lang="en-US" sz="4400" dirty="0"/>
              <a:t>Misinformation has become a normal occurrence in our interconnected society with nation states, extremist organizations, and fringe web communities all contributing to the current state of disarray.</a:t>
            </a:r>
          </a:p>
          <a:p>
            <a:pPr marL="685800" indent="-685800" fontAlgn="base">
              <a:buFont typeface="Arial" panose="020B0604020202020204" pitchFamily="34" charset="0"/>
              <a:buChar char="•"/>
            </a:pPr>
            <a:r>
              <a:rPr lang="en-US" sz="4400" dirty="0"/>
              <a:t>Most research on fake news detection thus far has focused on detection after dissemination, which proves to be problematic since some people will still be affected.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400" dirty="0"/>
              <a:t>Some researchers have suggested that future work in this field should focus on early fake news detection so that before a news story becomes viral, it can already be flagged as possible misinformation or as unverified.</a:t>
            </a:r>
            <a:endParaRPr lang="en-US" sz="287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714FCD-56DF-D041-943C-43A1D0B928E2}"/>
              </a:ext>
            </a:extLst>
          </p:cNvPr>
          <p:cNvSpPr txBox="1"/>
          <p:nvPr/>
        </p:nvSpPr>
        <p:spPr>
          <a:xfrm>
            <a:off x="457199" y="13632242"/>
            <a:ext cx="18026743" cy="74174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/>
              <a:t>Objective</a:t>
            </a:r>
          </a:p>
          <a:p>
            <a:pPr marL="685800" indent="-685800" fontAlgn="base">
              <a:buFont typeface="Arial" panose="020B0604020202020204" pitchFamily="34" charset="0"/>
              <a:buChar char="•"/>
            </a:pPr>
            <a:r>
              <a:rPr lang="en-US" sz="4400" dirty="0"/>
              <a:t>For progress to be made on classifying misinformation prior to becoming viral , a deeper understanding of news syndication and propagation is required.</a:t>
            </a:r>
          </a:p>
          <a:p>
            <a:pPr marL="685800" indent="-685800" fontAlgn="base">
              <a:buFont typeface="Arial" panose="020B0604020202020204" pitchFamily="34" charset="0"/>
              <a:buChar char="•"/>
            </a:pPr>
            <a:r>
              <a:rPr lang="en-US" sz="4400" dirty="0"/>
              <a:t>In our research we present novel ways of defining different types of news propagation, as well as illustrating patterns that arise from the way in which news articles propagate.</a:t>
            </a:r>
          </a:p>
          <a:p>
            <a:pPr marL="685800" indent="-685800" fontAlgn="base">
              <a:buFont typeface="Arial" panose="020B0604020202020204" pitchFamily="34" charset="0"/>
              <a:buChar char="•"/>
            </a:pPr>
            <a:r>
              <a:rPr lang="en-US" sz="4400" dirty="0"/>
              <a:t>Our goal is to lay the groundwork and provide the needed background information in order to enable the early detection and classification of misinformation.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317FAB-8872-6341-AF4D-72549947BEC3}"/>
              </a:ext>
            </a:extLst>
          </p:cNvPr>
          <p:cNvSpPr txBox="1"/>
          <p:nvPr/>
        </p:nvSpPr>
        <p:spPr>
          <a:xfrm>
            <a:off x="457198" y="20559875"/>
            <a:ext cx="18026743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/>
              <a:t>Background</a:t>
            </a:r>
          </a:p>
          <a:p>
            <a:pPr marL="571500" indent="-571500" fontAlgn="base">
              <a:buFont typeface="Arial" panose="020B0604020202020204" pitchFamily="34" charset="0"/>
              <a:buChar char="•"/>
            </a:pPr>
            <a:r>
              <a:rPr lang="en-US" sz="4400" dirty="0" err="1"/>
              <a:t>Zannettou</a:t>
            </a:r>
            <a:r>
              <a:rPr lang="en-US" sz="4400" dirty="0"/>
              <a:t> et al. showed that memes originally posted by fringe web communities can eventually make their way into the mainstream media over time.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Wang et al. analyzed the propagation of news articles in Chinese media and categorized various features associated with the way news spreads , as well as compared online news propagation to the spread of an epidemic.</a:t>
            </a:r>
            <a:endParaRPr lang="en-US" sz="8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93CD7C-C670-B645-AE78-1698553DCD12}"/>
              </a:ext>
            </a:extLst>
          </p:cNvPr>
          <p:cNvSpPr txBox="1"/>
          <p:nvPr/>
        </p:nvSpPr>
        <p:spPr>
          <a:xfrm>
            <a:off x="457198" y="25945965"/>
            <a:ext cx="18026743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/>
              <a:t>Future Work</a:t>
            </a:r>
          </a:p>
          <a:p>
            <a:pPr marL="571500" indent="-571500" fontAlgn="base">
              <a:buFont typeface="Arial" panose="020B0604020202020204" pitchFamily="34" charset="0"/>
              <a:buChar char="•"/>
            </a:pPr>
            <a:r>
              <a:rPr lang="en-US" sz="4400" dirty="0"/>
              <a:t>Create an automatic process to classify the different types of propagation that are occurring using some of the heuristics that we have identified.</a:t>
            </a:r>
          </a:p>
          <a:p>
            <a:pPr marL="571500" indent="-571500" fontAlgn="base">
              <a:buFont typeface="Arial" panose="020B0604020202020204" pitchFamily="34" charset="0"/>
              <a:buChar char="•"/>
            </a:pPr>
            <a:r>
              <a:rPr lang="en-US" sz="4400" dirty="0"/>
              <a:t>Create a system which can identify an article that has not been verified as correct and could possibly be misinformation.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18D6A0-E870-CE41-97BC-B83CD40B35F6}"/>
              </a:ext>
            </a:extLst>
          </p:cNvPr>
          <p:cNvSpPr txBox="1"/>
          <p:nvPr/>
        </p:nvSpPr>
        <p:spPr>
          <a:xfrm>
            <a:off x="21717000" y="6100117"/>
            <a:ext cx="1802674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/>
              <a:t>Methodology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340900-17EC-4C43-AE35-16E27BB6136C}"/>
              </a:ext>
            </a:extLst>
          </p:cNvPr>
          <p:cNvSpPr/>
          <p:nvPr/>
        </p:nvSpPr>
        <p:spPr>
          <a:xfrm>
            <a:off x="18483941" y="6242698"/>
            <a:ext cx="24492859" cy="247598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4C4987D-DC34-8946-8979-9BA9BD64DE49}"/>
              </a:ext>
            </a:extLst>
          </p:cNvPr>
          <p:cNvSpPr txBox="1"/>
          <p:nvPr/>
        </p:nvSpPr>
        <p:spPr>
          <a:xfrm>
            <a:off x="18814507" y="7423556"/>
            <a:ext cx="6421214" cy="24314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5400" dirty="0"/>
          </a:p>
          <a:p>
            <a:pPr algn="ctr"/>
            <a:r>
              <a:rPr lang="en-US" sz="4400" dirty="0"/>
              <a:t>Identification of Viral News</a:t>
            </a:r>
          </a:p>
          <a:p>
            <a:endParaRPr lang="en-US" sz="5400" dirty="0"/>
          </a:p>
        </p:txBody>
      </p:sp>
      <p:sp>
        <p:nvSpPr>
          <p:cNvPr id="38" name="Down Arrow 37">
            <a:extLst>
              <a:ext uri="{FF2B5EF4-FFF2-40B4-BE49-F238E27FC236}">
                <a16:creationId xmlns:a16="http://schemas.microsoft.com/office/drawing/2014/main" id="{B308DA5A-F1AA-2240-BC1E-533AFB93EC4D}"/>
              </a:ext>
            </a:extLst>
          </p:cNvPr>
          <p:cNvSpPr/>
          <p:nvPr/>
        </p:nvSpPr>
        <p:spPr>
          <a:xfrm>
            <a:off x="21382857" y="9847406"/>
            <a:ext cx="1284514" cy="167136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Down Arrow 45">
            <a:extLst>
              <a:ext uri="{FF2B5EF4-FFF2-40B4-BE49-F238E27FC236}">
                <a16:creationId xmlns:a16="http://schemas.microsoft.com/office/drawing/2014/main" id="{85E75C29-BD66-9447-A37F-244EFC642BE6}"/>
              </a:ext>
            </a:extLst>
          </p:cNvPr>
          <p:cNvSpPr/>
          <p:nvPr/>
        </p:nvSpPr>
        <p:spPr>
          <a:xfrm>
            <a:off x="21429123" y="13982503"/>
            <a:ext cx="1284514" cy="167136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Down Arrow 46">
            <a:extLst>
              <a:ext uri="{FF2B5EF4-FFF2-40B4-BE49-F238E27FC236}">
                <a16:creationId xmlns:a16="http://schemas.microsoft.com/office/drawing/2014/main" id="{16B100F4-D20D-B843-8895-98A11E7C36CE}"/>
              </a:ext>
            </a:extLst>
          </p:cNvPr>
          <p:cNvSpPr/>
          <p:nvPr/>
        </p:nvSpPr>
        <p:spPr>
          <a:xfrm>
            <a:off x="21382857" y="18135803"/>
            <a:ext cx="1284514" cy="167136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Down Arrow 47">
            <a:extLst>
              <a:ext uri="{FF2B5EF4-FFF2-40B4-BE49-F238E27FC236}">
                <a16:creationId xmlns:a16="http://schemas.microsoft.com/office/drawing/2014/main" id="{4B889E82-D3E2-3149-9484-8CEB22B2C3D7}"/>
              </a:ext>
            </a:extLst>
          </p:cNvPr>
          <p:cNvSpPr/>
          <p:nvPr/>
        </p:nvSpPr>
        <p:spPr>
          <a:xfrm>
            <a:off x="21429123" y="22304643"/>
            <a:ext cx="1284514" cy="167136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D794D75-5BB3-064D-8964-64C3EB7EAF4C}"/>
              </a:ext>
            </a:extLst>
          </p:cNvPr>
          <p:cNvSpPr txBox="1"/>
          <p:nvPr/>
        </p:nvSpPr>
        <p:spPr>
          <a:xfrm>
            <a:off x="18870298" y="11563962"/>
            <a:ext cx="6421214" cy="24314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5400" dirty="0"/>
          </a:p>
          <a:p>
            <a:pPr algn="ctr"/>
            <a:r>
              <a:rPr lang="en-US" sz="4400" dirty="0"/>
              <a:t>Gathering Similar Articles</a:t>
            </a:r>
          </a:p>
          <a:p>
            <a:endParaRPr lang="en-US" sz="54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1822B81-995D-914A-8FB6-F9C5C9D80211}"/>
              </a:ext>
            </a:extLst>
          </p:cNvPr>
          <p:cNvSpPr txBox="1"/>
          <p:nvPr/>
        </p:nvSpPr>
        <p:spPr>
          <a:xfrm>
            <a:off x="18814507" y="15704368"/>
            <a:ext cx="6421214" cy="24314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5400" dirty="0"/>
          </a:p>
          <a:p>
            <a:pPr algn="ctr"/>
            <a:r>
              <a:rPr lang="en-US" sz="4400" dirty="0"/>
              <a:t>Web Scraping</a:t>
            </a:r>
          </a:p>
          <a:p>
            <a:endParaRPr lang="en-US" sz="54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C1BE076-99A7-B34B-9AA2-E1E842D6A042}"/>
              </a:ext>
            </a:extLst>
          </p:cNvPr>
          <p:cNvSpPr txBox="1"/>
          <p:nvPr/>
        </p:nvSpPr>
        <p:spPr>
          <a:xfrm>
            <a:off x="18870298" y="19862224"/>
            <a:ext cx="6421214" cy="24314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5400" dirty="0"/>
          </a:p>
          <a:p>
            <a:pPr algn="ctr"/>
            <a:r>
              <a:rPr lang="en-US" sz="4400" dirty="0"/>
              <a:t>Pre-Processing</a:t>
            </a:r>
          </a:p>
          <a:p>
            <a:endParaRPr lang="en-US" sz="54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EF4777-F74E-0942-8448-B403BD98BFC8}"/>
              </a:ext>
            </a:extLst>
          </p:cNvPr>
          <p:cNvSpPr txBox="1"/>
          <p:nvPr/>
        </p:nvSpPr>
        <p:spPr>
          <a:xfrm>
            <a:off x="18870298" y="24006436"/>
            <a:ext cx="6421214" cy="24314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5400" dirty="0"/>
          </a:p>
          <a:p>
            <a:pPr algn="ctr"/>
            <a:r>
              <a:rPr lang="en-US" sz="4400" dirty="0"/>
              <a:t>Clustering</a:t>
            </a:r>
          </a:p>
          <a:p>
            <a:endParaRPr lang="en-US" sz="54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90A098C-4CCF-D640-9D99-B51F7011A5BD}"/>
              </a:ext>
            </a:extLst>
          </p:cNvPr>
          <p:cNvSpPr txBox="1"/>
          <p:nvPr/>
        </p:nvSpPr>
        <p:spPr>
          <a:xfrm>
            <a:off x="18745793" y="28198066"/>
            <a:ext cx="6421214" cy="24314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5400" dirty="0"/>
          </a:p>
          <a:p>
            <a:pPr algn="ctr"/>
            <a:r>
              <a:rPr lang="en-US" sz="4400" dirty="0"/>
              <a:t>Analysis</a:t>
            </a:r>
          </a:p>
          <a:p>
            <a:endParaRPr lang="en-US" sz="5400" dirty="0"/>
          </a:p>
        </p:txBody>
      </p:sp>
      <p:sp>
        <p:nvSpPr>
          <p:cNvPr id="56" name="Down Arrow 55">
            <a:extLst>
              <a:ext uri="{FF2B5EF4-FFF2-40B4-BE49-F238E27FC236}">
                <a16:creationId xmlns:a16="http://schemas.microsoft.com/office/drawing/2014/main" id="{D8B4C0F3-B326-5842-BBC3-C7787D96A085}"/>
              </a:ext>
            </a:extLst>
          </p:cNvPr>
          <p:cNvSpPr/>
          <p:nvPr/>
        </p:nvSpPr>
        <p:spPr>
          <a:xfrm>
            <a:off x="21382857" y="26486964"/>
            <a:ext cx="1284514" cy="167136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33B4F78-A4B7-0C49-A1F1-9DEBDE578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18117" y="6933167"/>
            <a:ext cx="6421215" cy="3840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55BCDF6-5A3B-3D47-8BCC-E29841DFE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2561" y="13470089"/>
            <a:ext cx="10015451" cy="3580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8DB2E47D-D243-7A41-8E9E-5E32B321E1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86652" y="11080335"/>
            <a:ext cx="8381805" cy="2247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FC2922A7-1B8B-0740-9F8B-15F4A8E98B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21498" y="10976067"/>
            <a:ext cx="5209106" cy="2431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39" descr="A picture containing monitor, screen, clock, game&#10;&#10;Description automatically generated">
            <a:extLst>
              <a:ext uri="{FF2B5EF4-FFF2-40B4-BE49-F238E27FC236}">
                <a16:creationId xmlns:a16="http://schemas.microsoft.com/office/drawing/2014/main" id="{3177A7AC-256B-5940-A95F-53EE3F7587E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83" t="41762"/>
          <a:stretch/>
        </p:blipFill>
        <p:spPr>
          <a:xfrm>
            <a:off x="27271118" y="17733179"/>
            <a:ext cx="7658248" cy="7417415"/>
          </a:xfrm>
          <a:prstGeom prst="rect">
            <a:avLst/>
          </a:prstGeom>
        </p:spPr>
      </p:pic>
      <p:pic>
        <p:nvPicPr>
          <p:cNvPr id="58" name="Picture 57" descr="A close up of a screen&#10;&#10;Description automatically generated">
            <a:extLst>
              <a:ext uri="{FF2B5EF4-FFF2-40B4-BE49-F238E27FC236}">
                <a16:creationId xmlns:a16="http://schemas.microsoft.com/office/drawing/2014/main" id="{4C25CBD0-2679-AA46-A7EE-DB869A3E782E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31"/>
          <a:stretch/>
        </p:blipFill>
        <p:spPr>
          <a:xfrm>
            <a:off x="35755485" y="17286475"/>
            <a:ext cx="6663509" cy="7417416"/>
          </a:xfrm>
          <a:prstGeom prst="rect">
            <a:avLst/>
          </a:prstGeom>
        </p:spPr>
      </p:pic>
      <p:pic>
        <p:nvPicPr>
          <p:cNvPr id="60" name="Picture 59" descr="A close up of a sign&#10;&#10;Description automatically generated">
            <a:extLst>
              <a:ext uri="{FF2B5EF4-FFF2-40B4-BE49-F238E27FC236}">
                <a16:creationId xmlns:a16="http://schemas.microsoft.com/office/drawing/2014/main" id="{6E16C92D-76F3-F348-A975-6C4D93228B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040" y="504354"/>
            <a:ext cx="3526713" cy="3526713"/>
          </a:xfrm>
          <a:prstGeom prst="rect">
            <a:avLst/>
          </a:prstGeom>
        </p:spPr>
      </p:pic>
      <p:pic>
        <p:nvPicPr>
          <p:cNvPr id="67" name="Picture 66" descr="A close up of a sign&#10;&#10;Description automatically generated">
            <a:extLst>
              <a:ext uri="{FF2B5EF4-FFF2-40B4-BE49-F238E27FC236}">
                <a16:creationId xmlns:a16="http://schemas.microsoft.com/office/drawing/2014/main" id="{4E71B500-B2C7-FA44-A3DE-C3CE10D5AB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01447" y="504354"/>
            <a:ext cx="3526713" cy="3526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226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353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5A4F4C1-B55B-4999-8699-9261033D93FF}"/>
              </a:ext>
            </a:extLst>
          </p:cNvPr>
          <p:cNvSpPr/>
          <p:nvPr/>
        </p:nvSpPr>
        <p:spPr>
          <a:xfrm>
            <a:off x="16586323" y="13754283"/>
            <a:ext cx="1420941" cy="9122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A0ABAD-537B-4131-990E-2A8C678AB2C6}"/>
              </a:ext>
            </a:extLst>
          </p:cNvPr>
          <p:cNvSpPr/>
          <p:nvPr/>
        </p:nvSpPr>
        <p:spPr>
          <a:xfrm>
            <a:off x="18599607" y="13754283"/>
            <a:ext cx="1420941" cy="9122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915740-537B-4BC9-9172-4B7AC042C54A}"/>
              </a:ext>
            </a:extLst>
          </p:cNvPr>
          <p:cNvSpPr/>
          <p:nvPr/>
        </p:nvSpPr>
        <p:spPr>
          <a:xfrm>
            <a:off x="20612891" y="13754283"/>
            <a:ext cx="1420941" cy="9122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0197E3-39A1-4B74-A541-40B0A4AD0A13}"/>
              </a:ext>
            </a:extLst>
          </p:cNvPr>
          <p:cNvSpPr/>
          <p:nvPr/>
        </p:nvSpPr>
        <p:spPr>
          <a:xfrm>
            <a:off x="22618153" y="13754283"/>
            <a:ext cx="1420941" cy="9122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9CE57F-9CFA-4649-91A0-3F4EBE431524}"/>
              </a:ext>
            </a:extLst>
          </p:cNvPr>
          <p:cNvSpPr/>
          <p:nvPr/>
        </p:nvSpPr>
        <p:spPr>
          <a:xfrm>
            <a:off x="24617581" y="13781586"/>
            <a:ext cx="1420941" cy="9122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6883D3-3D5B-4B55-98D0-69FB53DE742C}"/>
              </a:ext>
            </a:extLst>
          </p:cNvPr>
          <p:cNvSpPr/>
          <p:nvPr/>
        </p:nvSpPr>
        <p:spPr>
          <a:xfrm>
            <a:off x="26617009" y="13754283"/>
            <a:ext cx="1420941" cy="9122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614C0C-0C43-4678-9795-49820EBCC887}"/>
              </a:ext>
            </a:extLst>
          </p:cNvPr>
          <p:cNvSpPr txBox="1"/>
          <p:nvPr/>
        </p:nvSpPr>
        <p:spPr>
          <a:xfrm>
            <a:off x="16586323" y="13948774"/>
            <a:ext cx="1420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Identification of viral news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8FB08A-677A-4EB7-A3F3-5E9B91C5B6D7}"/>
              </a:ext>
            </a:extLst>
          </p:cNvPr>
          <p:cNvSpPr txBox="1"/>
          <p:nvPr/>
        </p:nvSpPr>
        <p:spPr>
          <a:xfrm>
            <a:off x="18613463" y="13841052"/>
            <a:ext cx="14209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Gathering relevant news stories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67DFBE-096D-4E63-96E5-431E71358642}"/>
              </a:ext>
            </a:extLst>
          </p:cNvPr>
          <p:cNvSpPr txBox="1"/>
          <p:nvPr/>
        </p:nvSpPr>
        <p:spPr>
          <a:xfrm>
            <a:off x="20626747" y="13887218"/>
            <a:ext cx="1420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Web scraping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064C37-EA4F-468C-A2AB-88AF9B18BF44}"/>
              </a:ext>
            </a:extLst>
          </p:cNvPr>
          <p:cNvSpPr txBox="1"/>
          <p:nvPr/>
        </p:nvSpPr>
        <p:spPr>
          <a:xfrm>
            <a:off x="22618153" y="13979551"/>
            <a:ext cx="1420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Pre-processing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20CCD9-52EF-4F8F-9D49-FA98E90BB868}"/>
              </a:ext>
            </a:extLst>
          </p:cNvPr>
          <p:cNvSpPr txBox="1"/>
          <p:nvPr/>
        </p:nvSpPr>
        <p:spPr>
          <a:xfrm>
            <a:off x="24603725" y="14083802"/>
            <a:ext cx="1420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Clustering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FC92C0-C28F-42EB-A5B0-B10B39EB43FB}"/>
              </a:ext>
            </a:extLst>
          </p:cNvPr>
          <p:cNvSpPr txBox="1"/>
          <p:nvPr/>
        </p:nvSpPr>
        <p:spPr>
          <a:xfrm>
            <a:off x="26617009" y="14056497"/>
            <a:ext cx="1420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Analysis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E33AAC8-FCF5-4F0E-BF41-0505A288B8B2}"/>
              </a:ext>
            </a:extLst>
          </p:cNvPr>
          <p:cNvSpPr/>
          <p:nvPr/>
        </p:nvSpPr>
        <p:spPr>
          <a:xfrm>
            <a:off x="18007264" y="14042940"/>
            <a:ext cx="578487" cy="334889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22FD088A-370A-4A2B-9FD3-69E2E19D64EE}"/>
              </a:ext>
            </a:extLst>
          </p:cNvPr>
          <p:cNvSpPr/>
          <p:nvPr/>
        </p:nvSpPr>
        <p:spPr>
          <a:xfrm>
            <a:off x="20038538" y="14029385"/>
            <a:ext cx="578487" cy="334889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CDB39CA9-E334-4CC9-A54A-4D7916FC92EC}"/>
              </a:ext>
            </a:extLst>
          </p:cNvPr>
          <p:cNvSpPr/>
          <p:nvPr/>
        </p:nvSpPr>
        <p:spPr>
          <a:xfrm>
            <a:off x="22033831" y="14013051"/>
            <a:ext cx="578487" cy="334889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6EEAD328-E261-4C1D-8B32-F0F694BCB085}"/>
              </a:ext>
            </a:extLst>
          </p:cNvPr>
          <p:cNvSpPr/>
          <p:nvPr/>
        </p:nvSpPr>
        <p:spPr>
          <a:xfrm>
            <a:off x="26038522" y="14042940"/>
            <a:ext cx="578487" cy="334889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4" name="Title 33">
            <a:extLst>
              <a:ext uri="{FF2B5EF4-FFF2-40B4-BE49-F238E27FC236}">
                <a16:creationId xmlns:a16="http://schemas.microsoft.com/office/drawing/2014/main" id="{9B18CEBB-E9B8-4DF9-B871-8380491F9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0811" y="9373620"/>
            <a:ext cx="14641507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30" name="Subtitle 29">
            <a:extLst>
              <a:ext uri="{FF2B5EF4-FFF2-40B4-BE49-F238E27FC236}">
                <a16:creationId xmlns:a16="http://schemas.microsoft.com/office/drawing/2014/main" id="{D60ABE12-2E83-45AC-A103-E37D81BF86E2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437518" y="16459200"/>
            <a:ext cx="6535782" cy="2819400"/>
          </a:xfrm>
        </p:spPr>
        <p:txBody>
          <a:bodyPr>
            <a:normAutofit fontScale="25000" lnSpcReduction="20000"/>
          </a:bodyPr>
          <a:lstStyle/>
          <a:p>
            <a:pPr algn="l"/>
            <a:r>
              <a:rPr lang="en-US" dirty="0"/>
              <a:t>Phases:</a:t>
            </a:r>
          </a:p>
          <a:p>
            <a:pPr algn="l"/>
            <a:r>
              <a:rPr lang="en-US" dirty="0"/>
              <a:t>Phase I   : 	Manual Approach</a:t>
            </a:r>
          </a:p>
          <a:p>
            <a:pPr algn="l"/>
            <a:r>
              <a:rPr lang="en-US" dirty="0"/>
              <a:t>Phase II  : 	Semi-automated Approach</a:t>
            </a:r>
          </a:p>
          <a:p>
            <a:pPr algn="l"/>
            <a:r>
              <a:rPr lang="en-US" dirty="0"/>
              <a:t>Phase III :	Fully-automated Approach</a:t>
            </a:r>
          </a:p>
        </p:txBody>
      </p:sp>
      <p:sp>
        <p:nvSpPr>
          <p:cNvPr id="31" name="Right Brace 30">
            <a:extLst>
              <a:ext uri="{FF2B5EF4-FFF2-40B4-BE49-F238E27FC236}">
                <a16:creationId xmlns:a16="http://schemas.microsoft.com/office/drawing/2014/main" id="{62177A9E-FDD1-43AA-972F-D228AE80F3FC}"/>
              </a:ext>
            </a:extLst>
          </p:cNvPr>
          <p:cNvSpPr/>
          <p:nvPr/>
        </p:nvSpPr>
        <p:spPr>
          <a:xfrm>
            <a:off x="14520013" y="17114520"/>
            <a:ext cx="311339" cy="108966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0BC0D1-E2FF-4814-9F77-FD0262336964}"/>
              </a:ext>
            </a:extLst>
          </p:cNvPr>
          <p:cNvSpPr txBox="1"/>
          <p:nvPr/>
        </p:nvSpPr>
        <p:spPr>
          <a:xfrm>
            <a:off x="14831352" y="17535827"/>
            <a:ext cx="136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</a:t>
            </a:r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62963FA1-CA85-4C0A-89E9-404D4902FE70}"/>
              </a:ext>
            </a:extLst>
          </p:cNvPr>
          <p:cNvSpPr/>
          <p:nvPr/>
        </p:nvSpPr>
        <p:spPr>
          <a:xfrm>
            <a:off x="24039094" y="14013051"/>
            <a:ext cx="578487" cy="334889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546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117" hidden="1">
            <a:extLst>
              <a:ext uri="{FF2B5EF4-FFF2-40B4-BE49-F238E27FC236}">
                <a16:creationId xmlns:a16="http://schemas.microsoft.com/office/drawing/2014/main" id="{472AFD39-0243-4DE8-BAB0-26A9FCF0C5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62975" y="9499600"/>
            <a:ext cx="34569400" cy="2133441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30" name="Group 126">
            <a:extLst>
              <a:ext uri="{FF2B5EF4-FFF2-40B4-BE49-F238E27FC236}">
                <a16:creationId xmlns:a16="http://schemas.microsoft.com/office/drawing/2014/main" id="{399A0FCB-B8DE-4D40-B752-D30C4C93A610}"/>
              </a:ext>
            </a:extLst>
          </p:cNvPr>
          <p:cNvGrpSpPr>
            <a:grpSpLocks/>
          </p:cNvGrpSpPr>
          <p:nvPr/>
        </p:nvGrpSpPr>
        <p:grpSpPr bwMode="auto">
          <a:xfrm>
            <a:off x="160338" y="155575"/>
            <a:ext cx="42976800" cy="2566988"/>
            <a:chOff x="107625832" y="109678470"/>
            <a:chExt cx="5118735" cy="1013460"/>
          </a:xfrm>
        </p:grpSpPr>
        <p:sp>
          <p:nvSpPr>
            <p:cNvPr id="131" name="Rectangle 127" hidden="1">
              <a:extLst>
                <a:ext uri="{FF2B5EF4-FFF2-40B4-BE49-F238E27FC236}">
                  <a16:creationId xmlns:a16="http://schemas.microsoft.com/office/drawing/2014/main" id="{0CF3D184-2333-4B4C-8B90-29CF58E125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625832" y="109678470"/>
              <a:ext cx="5118735" cy="10134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32" name="Group 128">
              <a:extLst>
                <a:ext uri="{FF2B5EF4-FFF2-40B4-BE49-F238E27FC236}">
                  <a16:creationId xmlns:a16="http://schemas.microsoft.com/office/drawing/2014/main" id="{D4965646-B239-4295-BD68-D8FE9907A0B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7625832" y="109678470"/>
              <a:ext cx="5118735" cy="1013460"/>
              <a:chOff x="107625832" y="109678470"/>
              <a:chExt cx="5118735" cy="1013460"/>
            </a:xfrm>
          </p:grpSpPr>
          <p:sp>
            <p:nvSpPr>
              <p:cNvPr id="133" name="Text Box 129">
                <a:extLst>
                  <a:ext uri="{FF2B5EF4-FFF2-40B4-BE49-F238E27FC236}">
                    <a16:creationId xmlns:a16="http://schemas.microsoft.com/office/drawing/2014/main" id="{65479EED-7043-472C-A925-C0B78C0C648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7625832" y="110314740"/>
                <a:ext cx="5118735" cy="37719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56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Samuel Teplov				Gaurav Deshpande				Alon Peer</a:t>
                </a: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  <p:sp>
            <p:nvSpPr>
              <p:cNvPr id="134" name="Text Box 130">
                <a:extLst>
                  <a:ext uri="{FF2B5EF4-FFF2-40B4-BE49-F238E27FC236}">
                    <a16:creationId xmlns:a16="http://schemas.microsoft.com/office/drawing/2014/main" id="{819A4E5D-0BEE-4FA9-9BBB-4DB1EA0BF10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7625832" y="109678470"/>
                <a:ext cx="5118735" cy="63627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97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A Systematic Approach to Analyzing Syndication of Viral News Stories</a:t>
                </a: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135" name="Group 131">
            <a:extLst>
              <a:ext uri="{FF2B5EF4-FFF2-40B4-BE49-F238E27FC236}">
                <a16:creationId xmlns:a16="http://schemas.microsoft.com/office/drawing/2014/main" id="{087AD1D8-9454-4456-BC5E-01300AAE5FCE}"/>
              </a:ext>
            </a:extLst>
          </p:cNvPr>
          <p:cNvGrpSpPr>
            <a:grpSpLocks/>
          </p:cNvGrpSpPr>
          <p:nvPr/>
        </p:nvGrpSpPr>
        <p:grpSpPr bwMode="auto">
          <a:xfrm>
            <a:off x="160338" y="2722563"/>
            <a:ext cx="8472487" cy="6781800"/>
            <a:chOff x="108973620" y="109117180"/>
            <a:chExt cx="2423160" cy="2136039"/>
          </a:xfrm>
        </p:grpSpPr>
        <p:sp>
          <p:nvSpPr>
            <p:cNvPr id="136" name="Rectangle 132" hidden="1">
              <a:extLst>
                <a:ext uri="{FF2B5EF4-FFF2-40B4-BE49-F238E27FC236}">
                  <a16:creationId xmlns:a16="http://schemas.microsoft.com/office/drawing/2014/main" id="{0661074E-8232-4E15-99A9-2F5B17A40A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973620" y="109117180"/>
              <a:ext cx="2423160" cy="213603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37" name="Group 133">
              <a:extLst>
                <a:ext uri="{FF2B5EF4-FFF2-40B4-BE49-F238E27FC236}">
                  <a16:creationId xmlns:a16="http://schemas.microsoft.com/office/drawing/2014/main" id="{A18A9AAA-2A80-4C3B-97FC-3419EC6FCCB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8973620" y="109117180"/>
              <a:ext cx="2423160" cy="2136039"/>
              <a:chOff x="108973620" y="109117180"/>
              <a:chExt cx="2423160" cy="2136039"/>
            </a:xfrm>
          </p:grpSpPr>
          <p:sp>
            <p:nvSpPr>
              <p:cNvPr id="138" name="Text Box 134">
                <a:extLst>
                  <a:ext uri="{FF2B5EF4-FFF2-40B4-BE49-F238E27FC236}">
                    <a16:creationId xmlns:a16="http://schemas.microsoft.com/office/drawing/2014/main" id="{2DB47191-C3EC-4C2C-8F60-A1A77D386A2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082205" y="109538719"/>
                <a:ext cx="2240280" cy="17145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1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libri" panose="020F0502020204030204" pitchFamily="34" charset="0"/>
                  </a:rPr>
                  <a:t>This is a good place to briefly, but effectively, describe your product or services. </a:t>
                </a: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  <p:sp>
            <p:nvSpPr>
              <p:cNvPr id="139" name="Text Box 135">
                <a:extLst>
                  <a:ext uri="{FF2B5EF4-FFF2-40B4-BE49-F238E27FC236}">
                    <a16:creationId xmlns:a16="http://schemas.microsoft.com/office/drawing/2014/main" id="{C1F16795-C758-49CE-9B95-48CC212D55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8973620" y="109117180"/>
                <a:ext cx="2423160" cy="3028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6000" b="0" i="0" u="none" strike="noStrike" cap="none" normalizeH="0" baseline="0">
                    <a:ln>
                      <a:noFill/>
                    </a:ln>
                    <a:solidFill>
                      <a:srgbClr val="292929"/>
                    </a:solidFill>
                    <a:effectLst/>
                    <a:latin typeface="Cambria" panose="02040503050406030204" pitchFamily="18" charset="0"/>
                  </a:rPr>
                  <a:t>Problem Statement</a:t>
                </a:r>
                <a:endParaRPr kumimoji="0" lang="en-US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140" name="Group 136">
            <a:extLst>
              <a:ext uri="{FF2B5EF4-FFF2-40B4-BE49-F238E27FC236}">
                <a16:creationId xmlns:a16="http://schemas.microsoft.com/office/drawing/2014/main" id="{4D684B47-3A0D-4E04-B022-843E9C077B6A}"/>
              </a:ext>
            </a:extLst>
          </p:cNvPr>
          <p:cNvGrpSpPr>
            <a:grpSpLocks/>
          </p:cNvGrpSpPr>
          <p:nvPr/>
        </p:nvGrpSpPr>
        <p:grpSpPr bwMode="auto">
          <a:xfrm>
            <a:off x="103188" y="8072437"/>
            <a:ext cx="8407400" cy="7340600"/>
            <a:chOff x="108973620" y="109117180"/>
            <a:chExt cx="2423160" cy="2136039"/>
          </a:xfrm>
        </p:grpSpPr>
        <p:sp>
          <p:nvSpPr>
            <p:cNvPr id="141" name="Rectangle 137" hidden="1">
              <a:extLst>
                <a:ext uri="{FF2B5EF4-FFF2-40B4-BE49-F238E27FC236}">
                  <a16:creationId xmlns:a16="http://schemas.microsoft.com/office/drawing/2014/main" id="{8E40B131-8EC3-46E1-8045-E418FB5258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973620" y="109117180"/>
              <a:ext cx="2423160" cy="213603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42" name="Group 138">
              <a:extLst>
                <a:ext uri="{FF2B5EF4-FFF2-40B4-BE49-F238E27FC236}">
                  <a16:creationId xmlns:a16="http://schemas.microsoft.com/office/drawing/2014/main" id="{8647B381-6782-4131-BCA7-2F66DDE60FC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8973620" y="109117180"/>
              <a:ext cx="2423160" cy="2136039"/>
              <a:chOff x="108973620" y="109117180"/>
              <a:chExt cx="2423160" cy="2136039"/>
            </a:xfrm>
          </p:grpSpPr>
          <p:sp>
            <p:nvSpPr>
              <p:cNvPr id="143" name="Text Box 139">
                <a:extLst>
                  <a:ext uri="{FF2B5EF4-FFF2-40B4-BE49-F238E27FC236}">
                    <a16:creationId xmlns:a16="http://schemas.microsoft.com/office/drawing/2014/main" id="{A392BBBF-1079-45B2-B98F-8EA8FDC0F7E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082205" y="109538719"/>
                <a:ext cx="2240280" cy="17145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10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libri" panose="020F0502020204030204" pitchFamily="34" charset="0"/>
                  </a:rPr>
                  <a:t>This is a good place to briefly, but effectively, describe your product or services. </a:t>
                </a:r>
                <a:endParaRPr kumimoji="0" lang="en-US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  <p:sp>
            <p:nvSpPr>
              <p:cNvPr id="144" name="Text Box 140">
                <a:extLst>
                  <a:ext uri="{FF2B5EF4-FFF2-40B4-BE49-F238E27FC236}">
                    <a16:creationId xmlns:a16="http://schemas.microsoft.com/office/drawing/2014/main" id="{A060ECB2-69F8-4CC0-B775-A2E920268F9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8973620" y="109117180"/>
                <a:ext cx="2423160" cy="3028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6400" b="0" i="0" u="none" strike="noStrike" cap="none" normalizeH="0" baseline="0">
                    <a:ln>
                      <a:noFill/>
                    </a:ln>
                    <a:solidFill>
                      <a:srgbClr val="292929"/>
                    </a:solidFill>
                    <a:effectLst/>
                    <a:latin typeface="Cambria" panose="02040503050406030204" pitchFamily="18" charset="0"/>
                  </a:rPr>
                  <a:t>Objective</a:t>
                </a:r>
                <a:endParaRPr kumimoji="0" lang="en-US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145" name="Group 141">
            <a:extLst>
              <a:ext uri="{FF2B5EF4-FFF2-40B4-BE49-F238E27FC236}">
                <a16:creationId xmlns:a16="http://schemas.microsoft.com/office/drawing/2014/main" id="{0D627BD7-FACF-4937-B458-1C2E8A47D7A3}"/>
              </a:ext>
            </a:extLst>
          </p:cNvPr>
          <p:cNvGrpSpPr>
            <a:grpSpLocks/>
          </p:cNvGrpSpPr>
          <p:nvPr/>
        </p:nvGrpSpPr>
        <p:grpSpPr bwMode="auto">
          <a:xfrm>
            <a:off x="160338" y="17505363"/>
            <a:ext cx="8472487" cy="5892800"/>
            <a:chOff x="108973620" y="109117180"/>
            <a:chExt cx="2423160" cy="2136039"/>
          </a:xfrm>
        </p:grpSpPr>
        <p:sp>
          <p:nvSpPr>
            <p:cNvPr id="146" name="Rectangle 142" hidden="1">
              <a:extLst>
                <a:ext uri="{FF2B5EF4-FFF2-40B4-BE49-F238E27FC236}">
                  <a16:creationId xmlns:a16="http://schemas.microsoft.com/office/drawing/2014/main" id="{9FD7B006-5964-43B5-A350-C2A1EC46C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973620" y="109117180"/>
              <a:ext cx="2423160" cy="213603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47" name="Group 143">
              <a:extLst>
                <a:ext uri="{FF2B5EF4-FFF2-40B4-BE49-F238E27FC236}">
                  <a16:creationId xmlns:a16="http://schemas.microsoft.com/office/drawing/2014/main" id="{2EB7EA0A-D517-490D-B6CD-C27B311D1E7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8973620" y="109117180"/>
              <a:ext cx="2423160" cy="2136039"/>
              <a:chOff x="108973620" y="109117180"/>
              <a:chExt cx="2423160" cy="2136039"/>
            </a:xfrm>
          </p:grpSpPr>
          <p:sp>
            <p:nvSpPr>
              <p:cNvPr id="148" name="Text Box 144">
                <a:extLst>
                  <a:ext uri="{FF2B5EF4-FFF2-40B4-BE49-F238E27FC236}">
                    <a16:creationId xmlns:a16="http://schemas.microsoft.com/office/drawing/2014/main" id="{A3DE12F6-E1A1-4769-B73C-4BC62F1F089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082205" y="109538719"/>
                <a:ext cx="2240280" cy="17145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10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libri" panose="020F0502020204030204" pitchFamily="34" charset="0"/>
                  </a:rPr>
                  <a:t>This is a good place to briefly, but effectively, describe your product or services. </a:t>
                </a:r>
                <a:endParaRPr kumimoji="0" lang="en-US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  <p:sp>
            <p:nvSpPr>
              <p:cNvPr id="149" name="Text Box 145">
                <a:extLst>
                  <a:ext uri="{FF2B5EF4-FFF2-40B4-BE49-F238E27FC236}">
                    <a16:creationId xmlns:a16="http://schemas.microsoft.com/office/drawing/2014/main" id="{0CD4D2FC-8F82-4FF2-8BC6-D908D0B6EFE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8973620" y="109117180"/>
                <a:ext cx="2423160" cy="3028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5200" b="0" i="0" u="none" strike="noStrike" cap="none" normalizeH="0" baseline="0" dirty="0">
                    <a:ln>
                      <a:noFill/>
                    </a:ln>
                    <a:solidFill>
                      <a:srgbClr val="292929"/>
                    </a:solidFill>
                    <a:effectLst/>
                    <a:latin typeface="Cambria" panose="02040503050406030204" pitchFamily="18" charset="0"/>
                  </a:rPr>
                  <a:t>Background </a:t>
                </a: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150" name="Group 146">
            <a:extLst>
              <a:ext uri="{FF2B5EF4-FFF2-40B4-BE49-F238E27FC236}">
                <a16:creationId xmlns:a16="http://schemas.microsoft.com/office/drawing/2014/main" id="{6AD4616A-E3F7-461F-800D-40E14D1123AE}"/>
              </a:ext>
            </a:extLst>
          </p:cNvPr>
          <p:cNvGrpSpPr>
            <a:grpSpLocks/>
          </p:cNvGrpSpPr>
          <p:nvPr/>
        </p:nvGrpSpPr>
        <p:grpSpPr bwMode="auto">
          <a:xfrm>
            <a:off x="160338" y="23398163"/>
            <a:ext cx="8407400" cy="7440612"/>
            <a:chOff x="108973620" y="109117180"/>
            <a:chExt cx="2423160" cy="2136039"/>
          </a:xfrm>
        </p:grpSpPr>
        <p:sp>
          <p:nvSpPr>
            <p:cNvPr id="151" name="Rectangle 147" hidden="1">
              <a:extLst>
                <a:ext uri="{FF2B5EF4-FFF2-40B4-BE49-F238E27FC236}">
                  <a16:creationId xmlns:a16="http://schemas.microsoft.com/office/drawing/2014/main" id="{2C9066FC-78D1-4054-A070-10BD554477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973620" y="109117180"/>
              <a:ext cx="2423160" cy="213603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52" name="Group 148">
              <a:extLst>
                <a:ext uri="{FF2B5EF4-FFF2-40B4-BE49-F238E27FC236}">
                  <a16:creationId xmlns:a16="http://schemas.microsoft.com/office/drawing/2014/main" id="{6A741BE6-B988-4D27-AADC-4127364F38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8973620" y="109117180"/>
              <a:ext cx="2423160" cy="2136039"/>
              <a:chOff x="108973620" y="109117180"/>
              <a:chExt cx="2423160" cy="2136039"/>
            </a:xfrm>
          </p:grpSpPr>
          <p:sp>
            <p:nvSpPr>
              <p:cNvPr id="153" name="Text Box 149">
                <a:extLst>
                  <a:ext uri="{FF2B5EF4-FFF2-40B4-BE49-F238E27FC236}">
                    <a16:creationId xmlns:a16="http://schemas.microsoft.com/office/drawing/2014/main" id="{35A3461E-5419-4319-9B55-644101D6EAD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082205" y="109538719"/>
                <a:ext cx="2240280" cy="17145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10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libri" panose="020F0502020204030204" pitchFamily="34" charset="0"/>
                  </a:rPr>
                  <a:t>This is a good place to briefly, but effectively, describe your product or services. </a:t>
                </a:r>
                <a:endParaRPr kumimoji="0" lang="en-US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  <p:sp>
            <p:nvSpPr>
              <p:cNvPr id="154" name="Text Box 150">
                <a:extLst>
                  <a:ext uri="{FF2B5EF4-FFF2-40B4-BE49-F238E27FC236}">
                    <a16:creationId xmlns:a16="http://schemas.microsoft.com/office/drawing/2014/main" id="{920FA195-1078-40FB-855F-C0EAA01D59C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8973620" y="109117180"/>
                <a:ext cx="2423160" cy="3028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6600" b="0" i="0" u="none" strike="noStrike" cap="none" normalizeH="0" baseline="0">
                    <a:ln>
                      <a:noFill/>
                    </a:ln>
                    <a:solidFill>
                      <a:srgbClr val="292929"/>
                    </a:solidFill>
                    <a:effectLst/>
                    <a:latin typeface="Cambria" panose="02040503050406030204" pitchFamily="18" charset="0"/>
                  </a:rPr>
                  <a:t>Future Work</a:t>
                </a:r>
                <a:endParaRPr kumimoji="0" lang="en-US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155" name="Group 151">
            <a:extLst>
              <a:ext uri="{FF2B5EF4-FFF2-40B4-BE49-F238E27FC236}">
                <a16:creationId xmlns:a16="http://schemas.microsoft.com/office/drawing/2014/main" id="{388BE5B0-5981-4D7C-9F53-B148C6DB69EC}"/>
              </a:ext>
            </a:extLst>
          </p:cNvPr>
          <p:cNvGrpSpPr>
            <a:grpSpLocks/>
          </p:cNvGrpSpPr>
          <p:nvPr/>
        </p:nvGrpSpPr>
        <p:grpSpPr bwMode="auto">
          <a:xfrm>
            <a:off x="26309638" y="2722563"/>
            <a:ext cx="16827500" cy="6781800"/>
            <a:chOff x="108973620" y="109117180"/>
            <a:chExt cx="2423160" cy="2136039"/>
          </a:xfrm>
        </p:grpSpPr>
        <p:sp>
          <p:nvSpPr>
            <p:cNvPr id="156" name="Rectangle 152" hidden="1">
              <a:extLst>
                <a:ext uri="{FF2B5EF4-FFF2-40B4-BE49-F238E27FC236}">
                  <a16:creationId xmlns:a16="http://schemas.microsoft.com/office/drawing/2014/main" id="{6EBED56E-40B9-4933-8FEB-1DD982549A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973620" y="109117180"/>
              <a:ext cx="2423160" cy="213603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57" name="Group 153">
              <a:extLst>
                <a:ext uri="{FF2B5EF4-FFF2-40B4-BE49-F238E27FC236}">
                  <a16:creationId xmlns:a16="http://schemas.microsoft.com/office/drawing/2014/main" id="{60C0E6F0-D39F-401F-BFF3-45E8D7FA24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8973620" y="109117180"/>
              <a:ext cx="2423160" cy="2136039"/>
              <a:chOff x="108973620" y="109117180"/>
              <a:chExt cx="2423160" cy="2136039"/>
            </a:xfrm>
          </p:grpSpPr>
          <p:sp>
            <p:nvSpPr>
              <p:cNvPr id="158" name="Text Box 154">
                <a:extLst>
                  <a:ext uri="{FF2B5EF4-FFF2-40B4-BE49-F238E27FC236}">
                    <a16:creationId xmlns:a16="http://schemas.microsoft.com/office/drawing/2014/main" id="{7495B5B6-A7DE-4B28-AD96-5DDAE48075F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082205" y="109538719"/>
                <a:ext cx="2240280" cy="17145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dirty="0">
                    <a:solidFill>
                      <a:srgbClr val="000000"/>
                    </a:solidFill>
                    <a:latin typeface="Calibri" panose="020F0502020204030204" pitchFamily="34" charset="0"/>
                  </a:rPr>
                  <a:t>This is a good place to briefly, but effectively, describe your product or services. </a:t>
                </a:r>
                <a:endParaRPr kumimoji="0" lang="en-US" altLang="en-US" sz="4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  <p:sp>
            <p:nvSpPr>
              <p:cNvPr id="159" name="Text Box 155">
                <a:extLst>
                  <a:ext uri="{FF2B5EF4-FFF2-40B4-BE49-F238E27FC236}">
                    <a16:creationId xmlns:a16="http://schemas.microsoft.com/office/drawing/2014/main" id="{5BE0EE09-6451-4788-98B6-6089D63A8A3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8973620" y="109117180"/>
                <a:ext cx="2423160" cy="3028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6000" b="0" i="0" u="none" strike="noStrike" cap="none" normalizeH="0" baseline="0">
                    <a:ln>
                      <a:noFill/>
                    </a:ln>
                    <a:solidFill>
                      <a:srgbClr val="292929"/>
                    </a:solidFill>
                    <a:effectLst/>
                    <a:latin typeface="Cambria" panose="02040503050406030204" pitchFamily="18" charset="0"/>
                  </a:rPr>
                  <a:t>Conclusion</a:t>
                </a:r>
                <a:endParaRPr kumimoji="0" lang="en-US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160" name="Group 156">
            <a:extLst>
              <a:ext uri="{FF2B5EF4-FFF2-40B4-BE49-F238E27FC236}">
                <a16:creationId xmlns:a16="http://schemas.microsoft.com/office/drawing/2014/main" id="{92C7A26E-8DF5-43CD-8935-CB04672CC761}"/>
              </a:ext>
            </a:extLst>
          </p:cNvPr>
          <p:cNvGrpSpPr>
            <a:grpSpLocks/>
          </p:cNvGrpSpPr>
          <p:nvPr/>
        </p:nvGrpSpPr>
        <p:grpSpPr bwMode="auto">
          <a:xfrm>
            <a:off x="8825512" y="2722563"/>
            <a:ext cx="17616488" cy="6781800"/>
            <a:chOff x="108973620" y="109117180"/>
            <a:chExt cx="2423160" cy="2136039"/>
          </a:xfrm>
        </p:grpSpPr>
        <p:sp>
          <p:nvSpPr>
            <p:cNvPr id="161" name="Rectangle 157" hidden="1">
              <a:extLst>
                <a:ext uri="{FF2B5EF4-FFF2-40B4-BE49-F238E27FC236}">
                  <a16:creationId xmlns:a16="http://schemas.microsoft.com/office/drawing/2014/main" id="{4862E121-208A-48D6-B9D0-E116052735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973620" y="109117180"/>
              <a:ext cx="2423160" cy="213603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62" name="Group 158">
              <a:extLst>
                <a:ext uri="{FF2B5EF4-FFF2-40B4-BE49-F238E27FC236}">
                  <a16:creationId xmlns:a16="http://schemas.microsoft.com/office/drawing/2014/main" id="{1B6E221B-BD72-449E-AA42-B6D410685D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8973620" y="109117180"/>
              <a:ext cx="2423160" cy="2136039"/>
              <a:chOff x="108973620" y="109117180"/>
              <a:chExt cx="2423160" cy="2136039"/>
            </a:xfrm>
          </p:grpSpPr>
          <p:sp>
            <p:nvSpPr>
              <p:cNvPr id="163" name="Text Box 159">
                <a:extLst>
                  <a:ext uri="{FF2B5EF4-FFF2-40B4-BE49-F238E27FC236}">
                    <a16:creationId xmlns:a16="http://schemas.microsoft.com/office/drawing/2014/main" id="{00F0EDD0-A580-4BB8-B3A4-43DCB92678F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109049" y="109538719"/>
                <a:ext cx="2240280" cy="17145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dirty="0">
                    <a:solidFill>
                      <a:srgbClr val="000000"/>
                    </a:solidFill>
                    <a:latin typeface="Calibri" panose="020F0502020204030204" pitchFamily="34" charset="0"/>
                  </a:rPr>
                  <a:t>This is a good place to briefly, but effectively, describe your product or services. </a:t>
                </a:r>
                <a:endParaRPr kumimoji="0" lang="en-US" altLang="en-US" sz="4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  <p:sp>
            <p:nvSpPr>
              <p:cNvPr id="164" name="Text Box 160">
                <a:extLst>
                  <a:ext uri="{FF2B5EF4-FFF2-40B4-BE49-F238E27FC236}">
                    <a16:creationId xmlns:a16="http://schemas.microsoft.com/office/drawing/2014/main" id="{DDE6C9A7-0975-4D56-9BCA-30A199619F7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8973620" y="109117180"/>
                <a:ext cx="2423160" cy="3028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6100" b="0" i="0" u="none" strike="noStrike" cap="none" normalizeH="0" baseline="0">
                    <a:ln>
                      <a:noFill/>
                    </a:ln>
                    <a:solidFill>
                      <a:srgbClr val="292929"/>
                    </a:solidFill>
                    <a:effectLst/>
                    <a:latin typeface="Cambria" panose="02040503050406030204" pitchFamily="18" charset="0"/>
                  </a:rPr>
                  <a:t>Criteria and methodology</a:t>
                </a:r>
                <a:endParaRPr kumimoji="0" lang="en-US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p:grpSp>
      </p:grpSp>
      <p:sp>
        <p:nvSpPr>
          <p:cNvPr id="165" name="Rectangle 161" hidden="1">
            <a:extLst>
              <a:ext uri="{FF2B5EF4-FFF2-40B4-BE49-F238E27FC236}">
                <a16:creationId xmlns:a16="http://schemas.microsoft.com/office/drawing/2014/main" id="{94F4023A-E688-4FB5-B35D-EACF537085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67738" y="9504363"/>
            <a:ext cx="34569400" cy="213344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66" name="Group 162">
            <a:extLst>
              <a:ext uri="{FF2B5EF4-FFF2-40B4-BE49-F238E27FC236}">
                <a16:creationId xmlns:a16="http://schemas.microsoft.com/office/drawing/2014/main" id="{46CE1C2C-7EA9-4985-9355-BE1FCD851F24}"/>
              </a:ext>
            </a:extLst>
          </p:cNvPr>
          <p:cNvGrpSpPr>
            <a:grpSpLocks/>
          </p:cNvGrpSpPr>
          <p:nvPr/>
        </p:nvGrpSpPr>
        <p:grpSpPr bwMode="auto">
          <a:xfrm>
            <a:off x="8567738" y="9504363"/>
            <a:ext cx="34569400" cy="21334412"/>
            <a:chOff x="108973620" y="109117180"/>
            <a:chExt cx="2423160" cy="2136039"/>
          </a:xfrm>
        </p:grpSpPr>
        <p:sp>
          <p:nvSpPr>
            <p:cNvPr id="167" name="Text Box 163">
              <a:extLst>
                <a:ext uri="{FF2B5EF4-FFF2-40B4-BE49-F238E27FC236}">
                  <a16:creationId xmlns:a16="http://schemas.microsoft.com/office/drawing/2014/main" id="{4BD5EB5D-0887-4F28-8E18-F290B825B8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082205" y="109538719"/>
              <a:ext cx="2240280" cy="17145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in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FFC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This is a good place to briefly, but effectively, describe your product or services. 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68" name="Text Box 164">
              <a:extLst>
                <a:ext uri="{FF2B5EF4-FFF2-40B4-BE49-F238E27FC236}">
                  <a16:creationId xmlns:a16="http://schemas.microsoft.com/office/drawing/2014/main" id="{68891E42-BDB6-4EC0-B00C-CE619930CB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8973620" y="109117180"/>
              <a:ext cx="2423160" cy="30289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in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FFC000"/>
                    </a:outerShdw>
                  </a:effectLst>
                </a14:hiddenEffects>
              </a:ext>
            </a:extLst>
          </p:spPr>
          <p:txBody>
            <a:bodyPr vert="horz" wrap="square" lIns="0" tIns="0" rIns="0" bIns="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9000" b="0" i="0" u="none" strike="noStrike" cap="none" normalizeH="0" baseline="0" dirty="0">
                  <a:ln>
                    <a:noFill/>
                  </a:ln>
                  <a:solidFill>
                    <a:srgbClr val="292929"/>
                  </a:solidFill>
                  <a:effectLst/>
                  <a:latin typeface="Cambria" panose="02040503050406030204" pitchFamily="18" charset="0"/>
                </a:rPr>
                <a:t>Analysis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grpSp>
        <p:nvGrpSpPr>
          <p:cNvPr id="169" name="Group 165">
            <a:extLst>
              <a:ext uri="{FF2B5EF4-FFF2-40B4-BE49-F238E27FC236}">
                <a16:creationId xmlns:a16="http://schemas.microsoft.com/office/drawing/2014/main" id="{D005A383-99C6-4883-B3C4-E3032067F1EB}"/>
              </a:ext>
            </a:extLst>
          </p:cNvPr>
          <p:cNvGrpSpPr>
            <a:grpSpLocks/>
          </p:cNvGrpSpPr>
          <p:nvPr/>
        </p:nvGrpSpPr>
        <p:grpSpPr bwMode="auto">
          <a:xfrm>
            <a:off x="160338" y="30838775"/>
            <a:ext cx="42986325" cy="1271588"/>
            <a:chOff x="109185075" y="109070775"/>
            <a:chExt cx="2000250" cy="2228850"/>
          </a:xfrm>
        </p:grpSpPr>
        <p:sp>
          <p:nvSpPr>
            <p:cNvPr id="170" name="Rectangle 166" hidden="1">
              <a:extLst>
                <a:ext uri="{FF2B5EF4-FFF2-40B4-BE49-F238E27FC236}">
                  <a16:creationId xmlns:a16="http://schemas.microsoft.com/office/drawing/2014/main" id="{5D094484-FA35-4063-89BF-4A378607E6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9185075" y="109070775"/>
              <a:ext cx="2000250" cy="222885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71" name="Group 167">
              <a:extLst>
                <a:ext uri="{FF2B5EF4-FFF2-40B4-BE49-F238E27FC236}">
                  <a16:creationId xmlns:a16="http://schemas.microsoft.com/office/drawing/2014/main" id="{E79E08F3-457A-4D7B-BC8D-E79D7D737AA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9185075" y="109070775"/>
              <a:ext cx="2000250" cy="2228850"/>
              <a:chOff x="109185075" y="109070775"/>
              <a:chExt cx="2000250" cy="2228850"/>
            </a:xfrm>
          </p:grpSpPr>
          <p:sp>
            <p:nvSpPr>
              <p:cNvPr id="172" name="Rectangle 168">
                <a:extLst>
                  <a:ext uri="{FF2B5EF4-FFF2-40B4-BE49-F238E27FC236}">
                    <a16:creationId xmlns:a16="http://schemas.microsoft.com/office/drawing/2014/main" id="{67F0EF24-504C-4348-A43D-6226D2CC90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9185075" y="109070775"/>
                <a:ext cx="2000250" cy="2228850"/>
              </a:xfrm>
              <a:prstGeom prst="rect">
                <a:avLst/>
              </a:prstGeom>
              <a:noFill/>
              <a:ln w="9525" algn="in">
                <a:solidFill>
                  <a:srgbClr val="ED7D3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ED7D3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73" name="Text Box 169">
                <a:extLst>
                  <a:ext uri="{FF2B5EF4-FFF2-40B4-BE49-F238E27FC236}">
                    <a16:creationId xmlns:a16="http://schemas.microsoft.com/office/drawing/2014/main" id="{E46ABFF5-AC2B-4544-8E9D-37B2E10D266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356525" y="109242225"/>
                <a:ext cx="1657350" cy="188595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FFC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8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CITATIONS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: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ambria" panose="02040503050406030204" pitchFamily="18" charset="0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1. </a:t>
                </a:r>
                <a:b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</a:b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2.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3.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4.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5.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6.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7.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8.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9.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10.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11.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12.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ambria" panose="02040503050406030204" pitchFamily="18" charset="0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ambria" panose="02040503050406030204" pitchFamily="18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60701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137</TotalTime>
  <Words>544</Words>
  <Application>Microsoft Macintosh PowerPoint</Application>
  <PresentationFormat>Custom</PresentationFormat>
  <Paragraphs>72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Cambria</vt:lpstr>
      <vt:lpstr>Office Theme</vt:lpstr>
      <vt:lpstr>PowerPoint Presentation</vt:lpstr>
      <vt:lpstr>PowerPoint Presentation</vt:lpstr>
      <vt:lpstr>METHODOLOGY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Gaurav Deshpande</dc:creator>
  <cp:lastModifiedBy>Samuel Teplov</cp:lastModifiedBy>
  <cp:revision>12</cp:revision>
  <dcterms:created xsi:type="dcterms:W3CDTF">2019-11-29T16:53:25Z</dcterms:created>
  <dcterms:modified xsi:type="dcterms:W3CDTF">2019-11-29T19:44:25Z</dcterms:modified>
</cp:coreProperties>
</file>